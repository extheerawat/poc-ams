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38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54864" cy="16459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PROPOSAL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-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Attendance Management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ระบบบริหารจัดการการลาและ OT สำหรับองค์กรขนาดกลาง-ใหญ่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5486400" cy="1828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5120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4132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54132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7058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57058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9984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59984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ภาพรวมของระบบ AMS — ปัญหาที่แก้ และวิธีการ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8640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ปัญหาที่พบในระบบเดิม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การลา / OT ใช้กระดาษหรือ Excel แยกกัน ผิดพลาดง่าย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audit trail — ตามไม่ได้ว่าใครอนุมัติเมื่อไหร่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คำนวณวันลาคงเหลือ + carry-over ด้วยมือ ใช้เวลานาน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ไม่เห็นภาพรวมทันที — รายงานต้องรอ end-of-month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ไม่มีการแจ้งเตือน — ผู้อนุมัติลืม / ใบลาค้าง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ขอยกเลิกใบลา/OT หลังอนุมัติ ไม่มีกระบวนการชัดเจน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86400" cy="42062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48640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แก้ไขปัญหาได้อย่างไร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Web-based ทุกขั้นตอน — สร้าง / อนุมัติ / รายงาน ครบในที่เดียว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 บันทึกทุก action พร้อมเวลา + ผู้กระทำ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pro-rate ตามอายุงาน + carry-over อัตโนมัติทุกปี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+ รายงานเรียลไทม์ + Export Excel ได้ทุกเมื่อ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แจ้งทุก step — ลด pending ที่ตกค้าง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20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Cancellation Workflow — HR review + คืน balance อัตโนมัติ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 AMS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 Proposition — 6 จุดเด่นของระบบ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ครอบคลุมทั้งฝ่าย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รองรับทั้ง Office (อนุมัติ 2 ขั้น) และ Production (3 ขั้น) ในระบบเดียว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90288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90288" y="2468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Trail ครบทุก 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0288" y="28346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บันทึกทุกการ สร้าง / อนุมัติ / ปฏิเสธ / ยกเลิก พร้อมเวลา และผู้ทำ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66176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49056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49056" y="2468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 / Reject รายคน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49056" y="28346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ใบเดียวมีหลายคน ผู้อนุมัติเลือกได้ว่าจะอนุมัติใคร / ปฏิเสธใคร / ตัดออก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41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" y="4544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Calculation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910328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Pro-rate วันลาตามอายุงาน + Carry-over วันลาเหลือสู่ปีถัดไปอัตโนมัติ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07408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90288" y="4041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90288" y="4544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Notification ครบ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0288" y="4910328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แจ้งทุก step + CC HR + FYI หัวหน้าแผนกข้ามแผนก — ลด pending ตกค้าง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66176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49056" y="4041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449056" y="4544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พร้อมใช้งาน 460+ คน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49056" y="4910328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Performance + Security + Role-based access — รองรับองค์กรขนาดกลาง-ใหญ่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สถาปัตยกรรมระบบแบบ 3-tier + บริการเสริม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883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579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Browser (Chrome / Edge / Safari)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3383280" cy="29718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14 — React 18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Tailwind CSS + shadcn/ui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Responsive Desktop + Tablet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883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1579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Node.js 20 — Next.js App Server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3383280" cy="29718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NextAuth.js v5 — Session + bcrypt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Actions + Prisma 5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Nodemailer (SMTP)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ExcelJS (Reports)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549640" y="182880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0" y="1883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21579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Microsoft SQL Server 2019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49640" y="2514600"/>
            <a:ext cx="3383280" cy="29718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32520" y="265176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Master/Transaction Tables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 + Email Log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■"/>
            </a:pPr>
            <a:r>
              <a:rPr lang="en-US" sz="110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Backup (SQL Maintenance Plan)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5623560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5669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บริการเสริม: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5669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SMTP Server (Email)   • Internal LAN / VPN   • Active Directory Integration (optional)   • Daily Backup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Roles &amp; Permissions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ระดับสิทธิ์ × สิทธิ์การเข้าถึงแต่ละโมดูล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อนุมัติใบลา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 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Settings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28600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359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26700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หัวหน้าทีม / Line Manager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0" y="22860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2860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0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22860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0" y="2286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32720" y="2286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3063240"/>
            <a:ext cx="11091672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136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Dept Manager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447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ผู้จัดการแผนก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30632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14800" y="329184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30632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0" y="329184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21040" y="329184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2104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เฉพาะที่ดูแล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26880" y="30632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32720" y="30632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" y="384048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Factory Manager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" y="4224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ผู้จัดการโรงงาน (Production)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43200" y="3840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11480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0" y="3840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5800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5800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0" y="406908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32104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เฉพาะที่ดูแล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326880" y="3840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332720" y="3840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" y="4617720"/>
            <a:ext cx="11091672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5800" y="4690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5800" y="5001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ฝ่ายบุคคล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43200" y="46177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114800" y="484632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14800" y="4846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0" y="46177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858000" y="484632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858000" y="4846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321040" y="48463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321040" y="4846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326880" y="46177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332720" y="46177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48640" y="539496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85800" y="5468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Admin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85800" y="5779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743200" y="5394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114800" y="562356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0" y="5623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486400" y="5394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858000" y="562356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858000" y="5623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321040" y="562356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321040" y="5623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326880" y="53949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332720" y="53949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548640" y="6172200"/>
            <a:ext cx="1109167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modules ที่ทำงานสัมพันธ์กัน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61188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993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ระบบจัดการการลา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ลาครึ่งวัน/เต็มวัน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Carry-over อัตโนมัติ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 Reasons Master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07408" y="1828800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07408" y="1828800"/>
            <a:ext cx="36118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36008" y="1993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 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1728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Day/Night Shift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Per-emp Approve/Reject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FYI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66176" y="1828800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66176" y="1828800"/>
            <a:ext cx="361188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94776" y="1993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Approval Workflow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94776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ขั้นตอนอนุมัติหลายระดับ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0496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2-step / ผลิต 3-step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+ รายคน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fast-track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58768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858768"/>
            <a:ext cx="361188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361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ข้อมูลพื้นฐาน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727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· แผนก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ประเภทการลา + Code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 default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07408" y="3858768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07408" y="3858768"/>
            <a:ext cx="36118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36008" y="4023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&amp; Excel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36008" y="4361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รายงานและส่งออก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28" y="4727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Monthly Report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Summary + สรุปสายรถ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 ทุกมิติ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66176" y="3858768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66176" y="3858768"/>
            <a:ext cx="361188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94776" y="4023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Notifications &amp; Audit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94776" y="4361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 + บันทึก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40496" y="4727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ทุก step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FYI ข้ามแผนก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 ครบ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 — Use Cases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ผู้เกี่ยวข้องและการใช้งานหลัก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828800"/>
            <a:ext cx="70408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 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Dept 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Factory Mgr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846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37744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8036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 (proxy)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237744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เลือกลาครึ่งวัน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37744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236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ดูสิทธิ์ลูกน้อง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0040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803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Step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320040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ปฏิเสธ + เหตุผล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06640" y="320040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523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Approve/Reject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402336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88036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Step 2 (ผลิต)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402336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636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ขอยกเลิกใบลา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402336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5236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ดูประวัติ + Detail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0" y="484632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80360" y="4846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 Master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484632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66360" y="4846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อนุมัติยกเลิก + คืนสิทธิ์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06640" y="484632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52360" y="4846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Excel + Reports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20640" y="566928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66360" y="5669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Fast-track อนุมัติ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784080" y="1828800"/>
            <a:ext cx="1874520" cy="4572000"/>
          </a:xfrm>
          <a:prstGeom prst="roundRect">
            <a:avLst>
              <a:gd name="adj" fmla="val 2439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875520" y="19202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คำอธิบาย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75520" y="2286000"/>
            <a:ext cx="16916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▢</a:t>
            </a: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Actor (ผู้ใช้)
</a:t>
            </a: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◯</a:t>
            </a: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Use Case
</a:t>
            </a:r>
            <a:r>
              <a:rPr lang="en-US" sz="1000" dirty="0">
                <a:solidFill>
                  <a:srgbClr val="D1D5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Boundary
</a:t>
            </a: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Supervisor / Dept Mgr / Factory Mgr / HR Admin = 4 actors หลักของ Leave Module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Workflow — Office (2-step)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ขั้นตอนการอนุมัติใบลาฝ่ายสำนักงาน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267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146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80360" y="21945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0" y="2267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แจ้ง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20640" y="21945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2267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951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60920" y="21945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2267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แจ้ง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 + CC HR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354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01200" y="21945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46920" y="2267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4692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เสร็จสิ้น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↓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931920" y="37033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77640" y="3776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4187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พร้อมเหตุผล (LRR001…)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 Email แจ้งผู้สร้าง + CC HR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41080" y="891540"/>
            <a:ext cx="3246120" cy="118872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78240" y="9372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Approve / Reject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78240" y="12573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ผจก.เลือก checkbox หลายใบ → กดอนุมัติ/ปฏิเสธทีเดียว — ลดการคลิก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11018520" cy="1325880"/>
          </a:xfrm>
          <a:prstGeom prst="roundRect">
            <a:avLst>
              <a:gd name="adj" fmla="val 3448"/>
            </a:avLst>
          </a:prstGeom>
          <a:solidFill>
            <a:srgbClr val="FFF9E6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72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 ใบลา (ก่อนอนุมัติ)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5120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 / Admin สามารถยกเลิกใบลาที่ยังไม่ได้รับการอนุมัติได้ทันที — ระบบเปลี่ยนสถานะเป็น CANCELLED + ไม่หักวันลา + ส่ง Email แจ้ง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 Cut-off Time: สร้าง 11:00 / อนุมัติ 13:00 (ปรับได้ใน Settings)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Workflow — Production (3-step) + Cancel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ขั้นตอนการอนุมัติฝ่ายผลิต + กระบวนการยกเลิกหลังอนุมัติ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Production Workflow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724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697480" y="219456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724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ผจก.โรงงาน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724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12280" y="219456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724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เสร็จสิ้น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86800" y="2194560"/>
            <a:ext cx="2971800" cy="822960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2396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Fast-track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23960" y="2542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ข้าม 2-3 step → APPROVED ทันที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383280"/>
            <a:ext cx="11091672" cy="3657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 Workflow — ขอยกเลิกใบลาหลังได้รับการอนุมัติแล้ว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0233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40965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เจ้าของใบ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5079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7744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697480" y="40233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0" y="40965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ระบุเหตุผล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45079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Required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3484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754880" y="40233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40965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45079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812280" y="40233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0" y="40965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45079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 Balance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869680" y="40233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915400" y="40965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15400" y="45079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ใบลายังคงอยู่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55080" y="4434840"/>
            <a:ext cx="0" cy="50292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0080" y="5303520"/>
            <a:ext cx="5349240" cy="1051560"/>
          </a:xfrm>
          <a:prstGeom prst="roundRect">
            <a:avLst>
              <a:gd name="adj" fmla="val 4348"/>
            </a:avLst>
          </a:prstGeom>
          <a:solidFill>
            <a:srgbClr val="ECFDF5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7240" y="5349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HR Approve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7240" y="56235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สถานะใบลา → CANCELLED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คืนวันลาเข้า balance ของพนักงาน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Email แจ้งผู้ขอยกเลิก + CC HR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63640" y="5303520"/>
            <a:ext cx="5349240" cy="1051560"/>
          </a:xfrm>
          <a:prstGeom prst="roundRect">
            <a:avLst>
              <a:gd name="adj" fmla="val 4348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00800" y="5349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HR Reject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56235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สถานะใบลายังคง APPROVED (ไม่ยกเลิก)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แสดงเหตุผล HR ในประวัติ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Email แจ้งผู้ขอยกเลิก พร้อม comment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— Key Features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ความสามารถหลักของโมดูลการลา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 เช้า/บ่าย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ใช้ได้ทุกประเภทการลา ไม่ต้องระบุเวลา ผสมเต็มวัน + ครึ่งวันในใบเดียว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496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เลือกหลายวันในใบเดียว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980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พนักงานคนเดียวลาวันที่ 1, 4, 7 ในใบลาเดียว — ระบบนับวันให้ถูก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55264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หัวหน้าเห็นสิทธิ์ลูกน้อง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5112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ดูยอดวันลาคงเหลือของลูกน้องทั้งทีมได้ทันที ก่อนสร้างใบลา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968496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922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เหตุผลปฏิเสธ — Master CRUD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224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กำหนดเหตุผล (LRR001, LRR002, ...) + Bulk Approve/Reject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681728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681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636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Pro-rate + Carry-over อัตโนมัติ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คำนวณวันลาตามอายุงาน + โอนวันเหลือสู่ปีถัดไป (เพดาน 5 วัน)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5394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349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รหัสประเภทการลา (Code)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5650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แสดงทุกที่ List/Detail/Email/Excel เช่น VACATION-ลาพักร้อน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783080"/>
            <a:ext cx="49834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75120" y="1783080"/>
            <a:ext cx="4983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0" y="18745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12864" y="1874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59168" y="18745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182880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leave / create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22402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58000" y="2651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*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0" y="2834640"/>
            <a:ext cx="226314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49440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A-092 — ศรีไพบูลย์ เ.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81160" y="2651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ประเภทการลา *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281160" y="2834640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372600" y="2834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VACATION-ลาพักร้อน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3246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เลือกวันลา *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0" y="3429000"/>
            <a:ext cx="4617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49440" y="342900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คลิกเพื่อเลือกวัน — เพิ่มอัตโนมัติ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0" y="3840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เลือกแล้ว 3 รายการ (2.5 วัน)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58000" y="4069080"/>
            <a:ext cx="46177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4944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11 ก.ค. 2569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458200" y="415137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2C5282"/>
          </a:solidFill>
          <a:ln w="63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458200" y="4151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134856" y="415137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134856" y="4151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811512" y="415137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811512" y="4151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949440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15 ก.ค. 2569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458200" y="447141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2C5282"/>
          </a:solidFill>
          <a:ln w="63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458200" y="44714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134856" y="447141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134856" y="44714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811512" y="447141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811512" y="44714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4944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16 ก.ค. 2569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458200" y="479145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458200" y="4791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134856" y="479145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134856" y="4791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811512" y="479145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1E40AF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811512" y="4791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858000" y="5303520"/>
            <a:ext cx="4617720" cy="41148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995160" y="5303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รวมวันลา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469880" y="5303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 วัน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9646920" y="580644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646920" y="5806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บันทึกและส่งอนุมัติ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— Reports &amp; Master Data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+ ข้อมูลพื้นฐานที่ HR จัดการเอง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62356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56235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&amp; Excel Export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กรองข้อมูลก่อน → preview → Export Excel ได้ทันที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5257800" cy="73152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770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Monthly Report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 · ประเภท · พนักงาน · วัน · สถานะ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83480" y="289864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28986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XLSX 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5257800" cy="73152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639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Balance Report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× ประเภท × คงเหลือ + Pro-rate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83480" y="376732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7673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XLSX 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5257800" cy="73152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507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Cancellation Report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800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ใบที่ขอยกเลิก + HR comment + ผลลัพธ์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83480" y="463600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4636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XLSX 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5303520"/>
            <a:ext cx="5257800" cy="73152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5376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Trail (per ใบ)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5669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action + เวลา + ผู้กระทำ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1783080"/>
            <a:ext cx="530352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5080" y="1783080"/>
            <a:ext cx="530352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3796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 (ที่เกี่ยวกับการลา)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 จัดการรายการได้เองทั้งหมด — ไม่ต้องรอ Developer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26974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20840" y="2697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Type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 · ชื่อ · จำนวนวันต่อปี · มี/ไม่มี Pro-rate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33832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840" y="3383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Reject Reason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657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Auto-gen Code (LRR001...) · ข้อความ · Active/Inactive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37960" y="40690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2084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Carry Over Settings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4343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Max วันที่ยกไปปีถัดไปต่อประเภท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37960" y="47548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2084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5029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เวลาตัดยอดสร้าง (11:00) / อนุมัติ (13:00)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37960" y="54406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208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Holiday Calendar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20840" y="5715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วันหยุดประจำปี — ไม่นับเป็นวันลา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 — Use Cases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ผู้เกี่ยวข้องและการใช้งานหลัก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828800"/>
            <a:ext cx="70408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Management 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Dept 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Factory Mgr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846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37744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8036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 OT (proxy)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237744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เลือกพนักงาน + สายรถ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37744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236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Request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0040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803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Approve/Reject รายคน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320040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Step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06640" y="320040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523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Approve/Reject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402336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88036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Step 2 (ผลิต)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402336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636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 OT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402336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5236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 ไม่มาทำ OT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0" y="484632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80360" y="4846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จัดการสายรถ + ค่า default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484632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66360" y="4846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อนุมัติยกเลิก OT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06640" y="484632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52360" y="4846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 Route Summary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20640" y="5669280"/>
            <a:ext cx="20116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66360" y="5669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Excel + Filter กะ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784080" y="1828800"/>
            <a:ext cx="1874520" cy="4572000"/>
          </a:xfrm>
          <a:prstGeom prst="roundRect">
            <a:avLst>
              <a:gd name="adj" fmla="val 2439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875520" y="19202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75520" y="2286000"/>
            <a:ext cx="16916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Approve/Reject
</a:t>
            </a: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รายคน — ผู้อนุมัติเลือกได้
</a:t>
            </a:r>
            <a:r>
              <a:rPr lang="en-US" sz="10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
</a:t>
            </a: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ยืมพนักงานข้ามแผนก + FYI Email
</a:t>
            </a:r>
            <a:r>
              <a:rPr lang="en-US" sz="10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 Route
</a:t>
            </a: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Default ต่อพนักงาน + Override รายคน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Workflow — Per-employee Approve/Reject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ผู้อนุมัติเลือกได้ว่าจะ approve/reject ใครภายในใบเดียว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Standard Flow (Office 2-step / Production 3-step)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+ เลือกคน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697480" y="21945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Step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ผจก.โรงงาน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2 (ผลิต)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12280" y="21945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พร้อมทำ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9680" y="2194560"/>
            <a:ext cx="2788920" cy="73152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06840" y="2240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Fast-track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2487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ข้ามทุก step → APPROVED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11091672" cy="3657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474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Per-employee Approve/Reject Logic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794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ในใบ OT 1 ใบที่มีหลายคน ผู้อนุมัติเปิด dialog แล้วเลือก (ติ๊ก) รายชื่อ — ระบบประมวลตามปุ่มที่กด: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206240"/>
            <a:ext cx="5440680" cy="2103120"/>
          </a:xfrm>
          <a:prstGeom prst="roundRect">
            <a:avLst>
              <a:gd name="adj" fmla="val 2174"/>
            </a:avLst>
          </a:prstGeom>
          <a:solidFill>
            <a:srgbClr val="ECFDF5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เมื่อกด ✓ อนุมัติ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663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APPROVED  (Office จบ / ผลิต รอ Step ถัดไป)
</a:t>
            </a: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ไม่ติ๊ก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</a:t>
            </a:r>
            <a:r>
              <a:rPr lang="en-US" sz="11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ลบออกจากใบ OT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(หายไป ไม่นับ ไม่แสดง)
</a:t>
            </a: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ใบ OT มี 5 คน → ติ๊ก 3 → 3 คน APPROVED, อีก 2 คนถูกลบ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206240"/>
            <a:ext cx="5440680" cy="2103120"/>
          </a:xfrm>
          <a:prstGeom prst="roundRect">
            <a:avLst>
              <a:gd name="adj" fmla="val 2174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เมื่อกด ✗ ปฏิเสธ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663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REJECTED  (มี audit trail + แสดงเหตุผล)
</a:t>
            </a: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ไม่ติ๊ก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</a:t>
            </a: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 (APPROVED)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ทำ OT ต่อตามปกติ
</a:t>
            </a: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ใบ OT มี 5 คน → ติ๊ก 1 → 1 คน REJECTED, อีก 4 คน APPROVED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— Special Flows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Request + Cancel / Memo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 Cross-department OT Request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หัวหน้ายืมพนักงานต่างแผนกมาทำ OT ได้ — หัวหน้าแผนกต้นสังกัดเป็น FYI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6791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0449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แผนกตน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5935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เลือกพนักงาน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9593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 A + แผนก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880360" y="352044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0" y="35935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 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9593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ส่งอนุมัติ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76472" y="4251960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7365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 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5102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(Standard)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466344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47365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 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5102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FYI Email (ไม่ต้อง approve)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5577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 OT เดินตาม workflow ปกติ (ผจก.A ตัดสิน) + ผจก.B รับทราบว่าลูกน้องไปทำ 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 Cancel + Memo Flow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ยกเลิกใบ OT หลังอนุมัติ + Memo เมื่อพนักงานไม่มาทำ OT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606040"/>
            <a:ext cx="5257800" cy="1508760"/>
          </a:xfrm>
          <a:prstGeom prst="roundRect">
            <a:avLst>
              <a:gd name="adj" fmla="val 3030"/>
            </a:avLst>
          </a:prstGeom>
          <a:solidFill>
            <a:srgbClr val="FFF9E6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 หลังได้รับอนุมัติ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29718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 → ขอยกเลิก (พร้อมเหตุผล) → HR review → ถ้าอนุมัติ ใบ OT เป็น CANCELLED + พนักงานในใบไม่ได้เงิน OT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4297680"/>
            <a:ext cx="5257800" cy="1600200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 ไม่มาทำ OT (ระหว่าง/หลัง OT)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46177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 / HR ระบุพนักงานที่ไม่มาทำ OT (Memo) → ระบบ:
• ตั้ง attended = false สำหรับคนนั้น
• ตัดออกจากรายงานชั่วโมง OT
• Email แจ้ง HR เพื่อใช้คำนวณ payroll ที่ถูกต้อง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— Key Features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ความสามารถหลักของโมดูล 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 / Night Shift + Preset เวลา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เลือกกะแล้วได้ preset เวลา 6 ช่วงมาตรฐาน — คลิกครั้งเดียวจบ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496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สายรถผูก default ต่อพนักงาน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980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ติ๊กพนักงาน → สายรถ auto-fill — Override รายคนได้ถ้ามีเปลี่ยนแปลง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55264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ลักษณะงาน + Remark รายคน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5112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แต่ละคนกรอกงานต่างกันได้ + Remark กรณีอยู่ต่อ/เลิกก่อนเวลา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968496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922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Per-emp Approve/Reject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224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ผู้อนุมัติเลือกได้รายคน — Approve→ลบไม่ติ๊ก / Reject→ผ่านไม่ติ๊ก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681728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681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636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+ FYI Email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ยืมพนักงานต่างแผนก ส่ง email แจ้งหัวหน้าต้นสังกัด (ไม่ต้องอนุมัติ)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5394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349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วันหยุด + Memo No-show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5650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 OT วันหยุด + Memo ตัดชื่อพนักงานที่ไม่มาออกจากรายงาน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783080"/>
            <a:ext cx="49834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75120" y="1783080"/>
            <a:ext cx="4983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0" y="18745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12864" y="1874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59168" y="18745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182880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ot / create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22402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OT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58000" y="2651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กะ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0" y="2834640"/>
            <a:ext cx="2194560" cy="36576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524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 (กลางวัน)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144000" y="283464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1440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Night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0" y="3337560"/>
            <a:ext cx="4617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49440" y="3337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 07:30 - 16:10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61320" y="33375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8.67 ชม.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3703320"/>
            <a:ext cx="4617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49440" y="3703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 07:30 - 19:30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561320" y="37033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12.00 ชม.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4069080"/>
            <a:ext cx="4617720" cy="29260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524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49440" y="4069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●   17:00 - 19:30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61320" y="40690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2.50 ชม.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58000" y="4572000"/>
            <a:ext cx="4617720" cy="41148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49440" y="45720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สายรถของแต่ละคน — 5 พนักงาน (Override ได้รายคน)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58000" y="5074920"/>
            <a:ext cx="4617720" cy="41148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49440" y="507492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ลักษณะงาน + Remark แยกตามคน — ใส่ "อยู่ต่อ 21:00" ได้รายคน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58000" y="5577840"/>
            <a:ext cx="4617720" cy="4572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63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949440" y="55778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2.50 ชม. × 5 คน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— Reports &amp; Bus Route Summary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OT + สรุปการใช้สายรถ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109960" cy="73152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08760" y="192024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B7791F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0876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ทั้งเดือน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92024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เฉพาะกะ 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192024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เฉพาะกะ Night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แผนก: ทั้งหมด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1920240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วันหยุด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 Route Summary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สรุปสายรถ × จำนวนคน-ครั้ง × คนต่างๆ × จำนวนวัน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53949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80360" y="3383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คน-ครั้ง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77640" y="3383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คนต่างๆ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383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539496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ซอย สันติ์นคร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80360" y="3749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77640" y="3749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37490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14800"/>
            <a:ext cx="539496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เกียรติธานี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80360" y="4114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77640" y="4114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4114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480560"/>
            <a:ext cx="539496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4480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วัดบางบ่อ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80360" y="4480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77640" y="4480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74920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846320"/>
            <a:ext cx="539496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436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ซอยอนามัย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80360" y="4846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77640" y="4846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74920" y="4846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75120" y="2743200"/>
            <a:ext cx="498348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75120" y="2743200"/>
            <a:ext cx="498348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58000" y="28803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 Export — 2 Sheets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858000" y="3337560"/>
            <a:ext cx="461772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9516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Sheet 1:  OT-yyyy-mm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95160" y="370332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 OT ทั้งหมด: วันที่ · พนักงาน · แผนก · กะ · เวลา · ชม. · สายรถ · ลักษณะงาน · Remark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0" y="4937760"/>
            <a:ext cx="461772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95160" y="4983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Sheet 2:  สรุปสายรถ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95160" y="530352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Aggregate: สายรถ × จำนวนคน-ครั้ง × คนต่างๆ (unique) × จำนวนวัน — Ready for ฝ่ายรถบริการ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Notification &amp; Email 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การแจ้งเตือนทุก action — ครอบคลุม CC HR + FYI ข้ามแผนก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Trigger → Recipient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6858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Action / Trigger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68580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 / OT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685800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Step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ผู้สร้างใบ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+ (ผจก.โรงงาน ถ้าผลิต)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68580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Final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3246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 + พนักงานที่ลา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49240" y="3246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685800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ปฏิเสธ + เหตุผล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3611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ผู้สร้างใบ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49240" y="3611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68580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ยกเลิกใบลา (pending)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49240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685800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ขอยกเลิกใบลา (approved)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83280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(review)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49240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ผู้อนุมัติเดิม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68580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OT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8328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 ของพนักงาน (FYI)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4924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074920"/>
            <a:ext cx="685800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 ไม่มาทำ OT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83280" y="5074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+ ผจก.แผนก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49240" y="5074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89520" y="1828800"/>
            <a:ext cx="4069080" cy="461772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89520" y="1828800"/>
            <a:ext cx="406908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724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ได้รับอนุมัติ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0" y="2514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เลขที่: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006840" y="2514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OT260605-7462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28986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06840" y="28986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มิ.ย. 2569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3282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06840" y="32826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17:00 - 19:30  (2.5 ชม.)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0" y="36667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006840" y="36667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คน — ชฎาพร ชูเรือง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72400" y="4050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006840" y="40507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เกียรติธานี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72400" y="4434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สถานะ: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006840" y="4434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อนุมัติแล้ว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772400" y="48188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อนุมัติโดย: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006840" y="48188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วิชัย บริหารดี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595360" y="5486400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595360" y="5486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 OT ในระบบ →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 &amp; Carry-over Logic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การควบคุมเวลา และ Auto carry-over วันลา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1099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 — ตัดยอดการสร้างและอนุมัติแต่ละวัน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เพื่อให้ HR สามารถปิดยอด, รวบรวมรายการ, ส่งเข้า Payroll ได้ตามรอบเวลามาตรฐาน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06527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3816" y="2697480"/>
            <a:ext cx="36576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08:00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เริ่มงาน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42282" y="2697480"/>
            <a:ext cx="36576" cy="2743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94226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11:00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11346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สร้าง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2834" y="2697480"/>
            <a:ext cx="36576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24778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13:00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41898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อนุมัติ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33938" y="2697480"/>
            <a:ext cx="36576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85882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17:00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03002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เลิกงาน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setting แก้ไขได้ใน /settings/cut-off-time · เปิด/ปิด Enforcement ได้ตามต้องการ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111099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1110996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Carry-over — โอนวันลาเหลือสู่ปีถัดไปอัตโนมัติ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7548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4846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ก.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212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ปีที่แล้วเหลือ: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5413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→ ยก 5 (max)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5669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ปีนี้รวม: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58704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+ 5 = 15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20440" y="47548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0" y="4846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นาง ข.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0" y="5212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ปีที่แล้วเหลือ: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0" y="5413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→ ยก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0" y="5669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ปีนี้รวม: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58704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+ 3 = 13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47548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0" y="4846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ค.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0" y="5212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ปีที่แล้วเหลือ: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5413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 → ไม่ยก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5669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ปีนี้รวม: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58704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+ 0 = 10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06840" y="47548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144000" y="4846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นาง ง.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44000" y="5212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ปีที่แล้วเหลือ: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44000" y="5413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→ ยก 5 (max)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44000" y="5669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ปีนี้รวม: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144000" y="58704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+ 5 = 15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 Management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 จัดการข้อมูลพื้นฐานได้เองทั้งหมด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864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Employee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รหัสพนักงาน · ชื่อ-สกุล · แผนก · ตำแหน่ง · วันที่เริ่มงาน · หัวหน้า · สายรถ default ·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324612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3246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07408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07408" y="1828800"/>
            <a:ext cx="54864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36008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36008" y="2423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 · ชื่อแผนก · ฝ่าย Office/Production · ผู้จัดการแผนก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04888" y="324612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04888" y="3246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66176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66176" y="1828800"/>
            <a:ext cx="54864" cy="18288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94776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Type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94776" y="2423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 · ชื่อประเภท · จำนวนวันต่อปี · มี Pro-rate · Max Carry-over · Active/Inactive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63656" y="324612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63656" y="3246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3904488"/>
            <a:ext cx="54864" cy="18288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Reject Reason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7240" y="44988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 Auto-gen (LRR001, LRR002, ...) · ข้อความ · Active/Inactive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532180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46120" y="53218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07408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07408" y="3904488"/>
            <a:ext cx="54864" cy="18288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36008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 Route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36008" y="44988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ชื่อสาย · เส้นทาง · ใช้กับฝ่าย · Active/Inactive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04888" y="532180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04888" y="53218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66176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66176" y="3904488"/>
            <a:ext cx="54864" cy="18288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94776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Settings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94776" y="44988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 · Carry-over Rules · SMTP · HR Email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963656" y="532180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63656" y="53218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 &amp; Security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 + บันทึกประวัติทุก 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548640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Defense-in-depth — ตั้งแต่ login จนถึง action ทุก step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bcryptjs (salt rounds = 10) — รหัสผ่านไม่เก็บเป็น plain 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337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NextAuth.js v5 — JWT signed + httpOnly cookie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Role-based Middleware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ตรวจสิทธิ์ทุก route + redirect ถ้าไม่มีสิทธิ์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52628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526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Action Authorization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mutation ตรวจ session + role + ownership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5120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Injection Protection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ใช้ prepared statements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571500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5715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" y="5943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email บันทึก log — debug / audit ได้ย้อนหลัง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1783080"/>
            <a:ext cx="548640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2200" y="1783080"/>
            <a:ext cx="54864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5508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5508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บันทึกทุก action — ตอบโจทย์ Compliance / Internal Audit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2743200"/>
            <a:ext cx="51206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6520" y="27432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60920" y="27432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58200" y="2743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104120" y="27432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55080" y="3035808"/>
            <a:ext cx="512064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46520" y="30358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13:42:17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60920" y="30358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mgr.office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58200" y="30358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APPROVE_LEAVE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104120" y="303580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LV2569-0042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3447288"/>
            <a:ext cx="5120640" cy="41148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46520" y="34472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13:40:05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60920" y="34472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sup.office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58200" y="34472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CREATE_LEAVE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104120" y="344728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LV2569-0042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55080" y="3858768"/>
            <a:ext cx="512064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46520" y="385876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11:22:30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60920" y="38587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458200" y="3858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CANCEL_OT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104120" y="385876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OT2569-0123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4270248"/>
            <a:ext cx="5120640" cy="41148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46520" y="427024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10:15:08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360920" y="427024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mgr.prod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458200" y="42702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REJECT_LEAVE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104120" y="427024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LV2569-0040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55080" y="4681728"/>
            <a:ext cx="512064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46520" y="4681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09:50:14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60920" y="46817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sup.prod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458200" y="46817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CREATE_OT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104120" y="46817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OT2569-0123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355080" y="5120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Audit เก็บถาวร — ใช้ตรวจสอบย้อนหลังได้ไม่จำกัด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เทคโนโลยีที่ใช้พัฒนา — เน้น stable + supportable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611880" cy="36576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14 (App Router)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18 + TypeScript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Tailwind CSS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shadcn/ui Components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Recharts (Charts)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182880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07408" y="1828800"/>
            <a:ext cx="36118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90288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6008" y="233172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Node.js 20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Server Actions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5 (ORM)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Zod (Validation)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Nodemailer (Email)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66176" y="182880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66176" y="1828800"/>
            <a:ext cx="3611880" cy="3657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49056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94776" y="233172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Microsoft SQL Server 2019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Migrate (Schema)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Tables (Master + Transaction)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Daily Backup (SQL Plan)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24528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4224528"/>
            <a:ext cx="3611880" cy="3657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2245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 + Security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72744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NextAuth.js v5 (Credentials)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bcryptjs (Password)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JWT Session (httpOnly)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Role-based Middleware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07408" y="4224528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07408" y="4224528"/>
            <a:ext cx="3611880" cy="3657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90288" y="42245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36008" y="472744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ExcelJS (Multi-sheet)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Server-side Filter + Export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Recharts (Dashboard)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66176" y="4224528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66176" y="4224528"/>
            <a:ext cx="361188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49056" y="42245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DevOps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94776" y="472744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Windows Server / IIS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PM2 / Node Service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Version Control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ระยะเวลาดำเนินงาน 4.5 - 5.5 เดือน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35908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40169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44430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48691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52952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28924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57213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1474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65735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69996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45968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74257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78519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82780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7041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63013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W12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91302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495563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899824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304085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80057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W16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708346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112607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516868" y="1783080"/>
            <a:ext cx="9144" cy="137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91802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08846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25891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042935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659979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0" y="2011680"/>
            <a:ext cx="7680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1 — Requirements &amp; Discovery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2148840"/>
            <a:ext cx="808522" cy="2286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0" y="2148840"/>
            <a:ext cx="80852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2 — Setup + Schema + Auth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49002" y="2560320"/>
            <a:ext cx="1212783" cy="228600"/>
          </a:xfrm>
          <a:prstGeom prst="roundRect">
            <a:avLst>
              <a:gd name="adj" fmla="val 12000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49002" y="2560320"/>
            <a:ext cx="12127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3w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3 — Leave Module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61785" y="2971800"/>
            <a:ext cx="1617044" cy="228600"/>
          </a:xfrm>
          <a:prstGeom prst="roundRect">
            <a:avLst>
              <a:gd name="adj" fmla="val 12000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861785" y="2971800"/>
            <a:ext cx="16170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864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4 — OT Module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74568" y="3383280"/>
            <a:ext cx="1617044" cy="228600"/>
          </a:xfrm>
          <a:prstGeom prst="roundRect">
            <a:avLst>
              <a:gd name="adj" fmla="val 12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74568" y="3383280"/>
            <a:ext cx="16170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4w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864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5 — Reports + Master + Email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87352" y="3794760"/>
            <a:ext cx="1212783" cy="228600"/>
          </a:xfrm>
          <a:prstGeom prst="roundRect">
            <a:avLst>
              <a:gd name="adj" fmla="val 12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287352" y="3794760"/>
            <a:ext cx="12127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3w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4864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6 — Testing + UAT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500135" y="4206240"/>
            <a:ext cx="1212783" cy="2286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500135" y="4206240"/>
            <a:ext cx="12127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3w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4864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7 — Migration + Training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308657" y="4617720"/>
            <a:ext cx="808522" cy="228600"/>
          </a:xfrm>
          <a:prstGeom prst="roundRect">
            <a:avLst>
              <a:gd name="adj" fmla="val 12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308657" y="4617720"/>
            <a:ext cx="80852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2w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4864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Go-Live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980019" y="5029200"/>
            <a:ext cx="274320" cy="228600"/>
          </a:xfrm>
          <a:prstGeom prst="diamond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300059" y="5029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Go-Live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8640" y="5760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41732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ระยะเวลาประมาณ — ขึ้นกับ requirement สุดท้าย + ปริมาณ master data จากระบบเก่า · UAT เผื่อ 1-2 สัปดาห์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Migration &amp; Training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การโอนข้อมูลและการอบรมผู้ใช้งาน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54864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Migration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โอนข้อมูล 460+ พนักงาน + Master Data จากระบบเดิม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 Excel Template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ระบบเตรียม template Excel มาตรฐาน — HR กรอกข้อมูลพนักงาน + แผนก + สายรถ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Import Script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 script → ตรวจ validation → import เข้า DB พร้อม report สำหรับแถวที่ error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ตั้งสิทธิ์ user เริ่มต้น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account ให้หัวหน้า / ผจก. / HR — กำหนดรหัสผ่านเริ่มต้น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80060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800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โอนวันลาคงเหลือ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Balance ปีที่ผ่านมา + Carry-over สำหรับการคำนวณปีปัจจุบัน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5486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5486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Parallel Run 1 สัปดาห์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5760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ใช้ทั้งระบบเก่า + ใหม่พร้อมกัน 1 สัปดาห์ — ตรวจตัวเลขให้ตรง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1783080"/>
            <a:ext cx="548640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2200" y="1783080"/>
            <a:ext cx="548640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5508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อบรมแยกตาม role — ครอบคลุมทุกการใช้งานในระบบ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2743200"/>
            <a:ext cx="5120640" cy="6858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92240" y="2816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3090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Master, Settings, Reports, Audit, Migration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058400" y="292608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58400" y="29260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วัน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3520440"/>
            <a:ext cx="5120640" cy="6858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9224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Dept Manager / Factory Mgr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38679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Approval flow, Bulk + Per-emp, Reports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058400" y="370332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058400" y="3703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ครึ่งวัน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55080" y="4297680"/>
            <a:ext cx="5120640" cy="6858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92240" y="4370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4645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สร้างใบลา/OT, Cross-dept, Balance ทีม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058400" y="448056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058400" y="44805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ครึ่งวัน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5074920"/>
            <a:ext cx="5120640" cy="6858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92240" y="5148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End User (พนักงาน)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92240" y="5422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ดูสถานะ, ดูประวัติ — Optional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058400" y="525780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058400" y="52578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นาที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55080" y="6035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คู่มือผู้ใช้ + Video Screencast — สำหรับ onboarding พนักงานใหม่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Investment Summary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สรุปค่าใช้จ่าย — เว้นช่องว่างให้กรอกราคา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1099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783080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96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ราคาต่อหน่วย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8700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(บาท)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240280"/>
            <a:ext cx="1110996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313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313432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2651760"/>
            <a:ext cx="5806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○"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[DEV] พัฒนาระบบ AMS ตาม Scope ในเอกสารนี้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○"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 + OT Module + Master + Reports + Audit + Notification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35240" y="23134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Job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2313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87000" y="2313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28416"/>
            <a:ext cx="11109960" cy="1380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401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401568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3739896"/>
            <a:ext cx="5806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○"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Install OS + Deploy Application + SQL Server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○"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Migration ข้อมูลพนักงาน + Master Data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○"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On-the-job Training (HR + Manager + Supervisor)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34015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Job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23960" y="34015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87000" y="34015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109960" cy="1380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782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7320" y="4782312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&amp; Support (1 ปี)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54480" y="5120640"/>
            <a:ext cx="5806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○"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Troubleshoot + Remote diagnostics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○"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NBD response · 12 hours/day · 5 days/week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○"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On-site investigation (สูงสุด 2 ครั้ง/ปี)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35240" y="47823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Job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23960" y="47823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87000" y="47823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___________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01000" y="6227064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01000" y="6227064"/>
            <a:ext cx="3657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38160" y="62270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สรุปจำนวนเงิน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65928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จำนวนเงินก่อนภาษี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12680" y="659282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38160" y="68397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 ณ ที่จ่าย 3%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12680" y="68397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38160" y="7086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ภาษีมูลค่าเพิ่ม 7%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12680" y="70866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38160" y="73334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ยอดจ่ายสุทธิ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12680" y="733348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________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3642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Lead Time: 4.5 - 5.5 เดือน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6842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ระยะรับประกัน: 1 ปี นับจากวันส่งมอบ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&amp; Support SLA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การให้บริการหลังส่งมอบ — 1 ปี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4406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864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NBD Response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 Business Day response · 12 hours / day · 5 days / week (Mon-Fri)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54406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4864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365760" cy="36576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Remote Diagnostics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423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เข้าระบบลูกค้าผ่าน remote desktop เพื่อตรวจสอบและแก้ไขปัญหา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4406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54864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3977640"/>
            <a:ext cx="365760" cy="36576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On-site Investigation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343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เข้าหน้างานในกรณีปัญหา critical — สูงสุด 2 ครั้งต่อปี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3749040"/>
            <a:ext cx="54406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17920" y="3749040"/>
            <a:ext cx="54864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6520" y="3977640"/>
            <a:ext cx="365760" cy="36576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Software Faults Resolution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4343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 bug ของระบบไม่จำกัดจำนวนครั้ง ภายในระยะประกัน 1 ปี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54406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5669280"/>
            <a:ext cx="54864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" y="5897880"/>
            <a:ext cx="365760" cy="36576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5897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Standby Consultant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80160" y="6263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On-call consultant สำหรับให้คำปรึกษาตาม SLA level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5669280"/>
            <a:ext cx="54406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17920" y="5669280"/>
            <a:ext cx="54864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46520" y="5897880"/>
            <a:ext cx="365760" cy="36576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6520" y="5897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4944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 Update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6263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Patch updates (security + bug fixes) ฟรีตลอดอายุประกัน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852160"/>
            <a:ext cx="1110996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7240" y="58521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Extended Support (Year 2+):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0" y="5852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ต่ออายุ support เพิ่มได้ทุกปีในอัตราที่ตกลงกัน (ขึ้นกับ scope การ support)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CHOOSE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เลือกเราเพราะอะไร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ปัจจัยที่ทำให้ AMS เป็น proposal ที่คุ้มค่า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Built for HR Reality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ออกแบบจาก use case จริง — ครึ่งวัน · cross-dept · per-emp approve · cancel-after-approve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Production-tested Logic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337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ทดสอบทั้ง Office (2-step) และ Production (3-step) — รองรับองค์กรขนาด 460+ คน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237744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0392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Audit-ready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3337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action บันทึก — รองรับ ISO / Internal Audit ได้ทันที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9768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Self-service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257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 + Settings + Reports — HR จัดการเองทั้งหมด ไม่ต้องรอ Developer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429768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17720" y="4937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Support Team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5257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ทีมไทย ตอบ-สื่อสารด้วยภาษาไทย เข้าหน้างานได้จริง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75320" y="429768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0392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03920" y="4937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1-year Warranty + Extensible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5257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รับประกัน 1 ปี + ขยาย module ในอนาคต (Payroll integration, Mobile app, ฯลฯ)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Ready for Production. Ready for Your Team.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77440"/>
            <a:ext cx="73152" cy="13716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พร้อมตอบทุกคำถาม — Next Steps: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ระบบจริง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440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นัดวันสาธิตการใช้งานจริง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45720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5120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Q&amp;A + ปรับ 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5440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 feature ให้ตรงโจทย์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45720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5120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 Quotation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5440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 + Timeline ละเอียด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45720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9828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98280" y="5120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 Kick-off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98280" y="5440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1 — Requirements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ติดต่อ:  ________________________  ·  Email:  ________________________  ·  Tel:  ________________________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4057</Words>
  <Application>Microsoft Office PowerPoint</Application>
  <PresentationFormat>แบบจอกว้าง</PresentationFormat>
  <Paragraphs>966</Paragraphs>
  <Slides>27</Slides>
  <Notes>27</Notes>
  <HiddenSlides>1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27</vt:i4>
      </vt:variant>
    </vt:vector>
  </HeadingPairs>
  <TitlesOfParts>
    <vt:vector size="30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— Proposal</dc:title>
  <dc:subject>PptxGenJS Presentation</dc:subject>
  <dc:creator>AMS Team</dc:creator>
  <cp:lastModifiedBy>Theerawat Siriboon</cp:lastModifiedBy>
  <cp:revision>2</cp:revision>
  <dcterms:created xsi:type="dcterms:W3CDTF">2026-06-05T05:34:42Z</dcterms:created>
  <dcterms:modified xsi:type="dcterms:W3CDTF">2026-06-05T07:00:36Z</dcterms:modified>
</cp:coreProperties>
</file>