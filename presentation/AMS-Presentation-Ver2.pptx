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8" d="100"/>
          <a:sy n="108" d="100"/>
        </p:scale>
        <p:origin x="67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378939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-1828800"/>
            <a:ext cx="5486400" cy="5486400"/>
          </a:xfrm>
          <a:prstGeom prst="ellipse">
            <a:avLst/>
          </a:prstGeom>
          <a:solidFill>
            <a:srgbClr val="7C3AED">
              <a:alpha val="40000"/>
            </a:srgbClr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1828800" y="4572000"/>
            <a:ext cx="4572000" cy="4572000"/>
          </a:xfrm>
          <a:prstGeom prst="ellipse">
            <a:avLst/>
          </a:prstGeom>
          <a:solidFill>
            <a:srgbClr val="4F46E5">
              <a:alpha val="30000"/>
            </a:srgbClr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40080" y="73152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7315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v1.0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1645920"/>
            <a:ext cx="109728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0" b="1" kern="0" spc="-20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AMS</a:t>
            </a:r>
            <a:endParaRPr lang="en-US" sz="11000" dirty="0"/>
          </a:p>
        </p:txBody>
      </p:sp>
      <p:sp>
        <p:nvSpPr>
          <p:cNvPr id="7" name="Text 5"/>
          <p:cNvSpPr/>
          <p:nvPr/>
        </p:nvSpPr>
        <p:spPr>
          <a:xfrm>
            <a:off x="640080" y="32004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6B6D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Attendance Management System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640080" y="38404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ระบบบริหารจัดการการลาและ OT ครบวงจร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640080" y="4937760"/>
            <a:ext cx="1737360" cy="502920"/>
          </a:xfrm>
          <a:prstGeom prst="roundRect">
            <a:avLst>
              <a:gd name="adj" fmla="val 49091"/>
            </a:avLst>
          </a:prstGeom>
          <a:solidFill>
            <a:srgbClr val="FFFFFF">
              <a:alpha val="15000"/>
            </a:srgbClr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40080" y="493776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📅  ระบบลา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651760" y="4937760"/>
            <a:ext cx="1737360" cy="502920"/>
          </a:xfrm>
          <a:prstGeom prst="roundRect">
            <a:avLst>
              <a:gd name="adj" fmla="val 49091"/>
            </a:avLst>
          </a:prstGeom>
          <a:solidFill>
            <a:srgbClr val="FFFFFF">
              <a:alpha val="15000"/>
            </a:srgbClr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651760" y="493776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⏰  ระบบ OT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0" y="4937760"/>
            <a:ext cx="1737360" cy="502920"/>
          </a:xfrm>
          <a:prstGeom prst="roundRect">
            <a:avLst>
              <a:gd name="adj" fmla="val 49091"/>
            </a:avLst>
          </a:prstGeom>
          <a:solidFill>
            <a:srgbClr val="FFFFFF">
              <a:alpha val="15000"/>
            </a:srgbClr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572000" y="493776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📊  รายงาน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80" y="61264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สำหรับองค์กร 460+ คน · 2 ฝ่าย (Office / ผลิต) · 5 ระดับสิทธิ์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1828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Module ทั้งหมดในระบบ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6 modules ครอบคลุมงาน HR ด้านการลาและ OT ตั้งแต่ต้นจนจบ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11480" y="1280160"/>
            <a:ext cx="3703320" cy="246888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411480" y="1280160"/>
            <a:ext cx="3703320" cy="9144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85800" y="1554480"/>
            <a:ext cx="640080" cy="64008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85800" y="15544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4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📅</a:t>
            </a:r>
            <a:endParaRPr lang="en-US" sz="1540" dirty="0"/>
          </a:p>
        </p:txBody>
      </p:sp>
      <p:sp>
        <p:nvSpPr>
          <p:cNvPr id="9" name="Text 7"/>
          <p:cNvSpPr/>
          <p:nvPr/>
        </p:nvSpPr>
        <p:spPr>
          <a:xfrm>
            <a:off x="1463040" y="1527048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ระบบจัดการการลา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63040" y="1901952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Leave Management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85800" y="2377440"/>
            <a:ext cx="31546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800"/>
              </a:lnSpc>
              <a:buSzPct val="100000"/>
              <a:buChar char="●"/>
            </a:pPr>
            <a:r>
              <a:rPr lang="en-US" sz="1100" dirty="0">
                <a:solidFill>
                  <a:srgbClr val="0F172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ลาครึ่งวัน เช้า/บ่าย ใช้ทุกประเภท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●"/>
            </a:pPr>
            <a:r>
              <a:rPr lang="en-US" sz="1100" dirty="0">
                <a:solidFill>
                  <a:srgbClr val="0F172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หัวหน้าเห็นสิทธิ์ลูกน้องทั้งทีม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●"/>
            </a:pPr>
            <a:r>
              <a:rPr lang="en-US" sz="1100" dirty="0">
                <a:solidFill>
                  <a:srgbClr val="0F172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รหัสประเภทการลา + Export Excel</a:t>
            </a:r>
            <a:endParaRPr lang="th-TH" sz="1100" dirty="0">
              <a:solidFill>
                <a:srgbClr val="0F172A"/>
              </a:solidFill>
              <a:latin typeface="Tahoma" pitchFamily="34" charset="0"/>
              <a:ea typeface="Tahoma" pitchFamily="34" charset="-122"/>
              <a:cs typeface="Tahoma" pitchFamily="34" charset="-120"/>
            </a:endParaRPr>
          </a:p>
          <a:p>
            <a:pPr marL="342900" indent="-342900">
              <a:lnSpc>
                <a:spcPts val="1800"/>
              </a:lnSpc>
              <a:buSzPct val="100000"/>
              <a:buChar char="●"/>
            </a:pPr>
            <a:r>
              <a:rPr lang="th-TH" sz="1100" dirty="0">
                <a:solidFill>
                  <a:srgbClr val="0F172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เลือกเหตุผลปฏิเสธ พร้อมช่องคำอธิบย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389120" y="1280160"/>
            <a:ext cx="3703320" cy="246888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4389120" y="1280160"/>
            <a:ext cx="3703320" cy="91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663440" y="1554480"/>
            <a:ext cx="640080" cy="6400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663440" y="15544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4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⏰</a:t>
            </a:r>
            <a:endParaRPr lang="en-US" sz="1540" dirty="0"/>
          </a:p>
        </p:txBody>
      </p:sp>
      <p:sp>
        <p:nvSpPr>
          <p:cNvPr id="16" name="Text 14"/>
          <p:cNvSpPr/>
          <p:nvPr/>
        </p:nvSpPr>
        <p:spPr>
          <a:xfrm>
            <a:off x="5440680" y="1527048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ระบบจัดการ OT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440680" y="1901952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Overtime Management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663440" y="2377440"/>
            <a:ext cx="315468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800"/>
              </a:lnSpc>
              <a:buSzPct val="100000"/>
              <a:buChar char="●"/>
            </a:pPr>
            <a:r>
              <a:rPr lang="en-US" sz="1100" dirty="0">
                <a:solidFill>
                  <a:srgbClr val="0F172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สายรถผูก default </a:t>
            </a:r>
            <a:r>
              <a:rPr lang="en-US" sz="1100" dirty="0" err="1">
                <a:solidFill>
                  <a:srgbClr val="0F172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ต่อพนักงาน</a:t>
            </a:r>
            <a:endParaRPr lang="th-TH" sz="1100" dirty="0">
              <a:solidFill>
                <a:srgbClr val="0F172A"/>
              </a:solidFill>
              <a:latin typeface="Tahoma" pitchFamily="34" charset="0"/>
              <a:ea typeface="Tahoma" pitchFamily="34" charset="-122"/>
              <a:cs typeface="Tahoma" pitchFamily="34" charset="-120"/>
            </a:endParaRPr>
          </a:p>
          <a:p>
            <a:pPr marL="342900" indent="-342900">
              <a:lnSpc>
                <a:spcPts val="1800"/>
              </a:lnSpc>
              <a:buSzPct val="100000"/>
              <a:buChar char="●"/>
            </a:pPr>
            <a:r>
              <a:rPr lang="th-TH" sz="1100" dirty="0">
                <a:solidFill>
                  <a:srgbClr val="0F172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แยกลักษณะงานแต่ละคน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●"/>
            </a:pPr>
            <a:r>
              <a:rPr lang="en-US" sz="1100" dirty="0">
                <a:solidFill>
                  <a:srgbClr val="0F172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Approve/Reject รายคน + Cross-dept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●"/>
            </a:pPr>
            <a:r>
              <a:rPr lang="en-US" sz="1100" dirty="0">
                <a:solidFill>
                  <a:srgbClr val="0F172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สรุปสายรถ · Filter กะ · OT </a:t>
            </a:r>
            <a:r>
              <a:rPr lang="en-US" sz="1100" dirty="0" err="1">
                <a:solidFill>
                  <a:srgbClr val="0F172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วันห</a:t>
            </a:r>
            <a:r>
              <a:rPr lang="th-TH" sz="1100" dirty="0">
                <a:solidFill>
                  <a:srgbClr val="0F172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ยุด</a:t>
            </a:r>
          </a:p>
          <a:p>
            <a:pPr marL="342900" indent="-342900">
              <a:lnSpc>
                <a:spcPts val="1800"/>
              </a:lnSpc>
              <a:buSzPct val="100000"/>
              <a:buChar char="●"/>
            </a:pPr>
            <a:r>
              <a:rPr lang="en-US" sz="1100" dirty="0">
                <a:solidFill>
                  <a:srgbClr val="0F172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Remark </a:t>
            </a:r>
            <a:r>
              <a:rPr lang="th-TH" sz="1100" dirty="0">
                <a:solidFill>
                  <a:srgbClr val="0F172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สำหรับ </a:t>
            </a:r>
            <a:r>
              <a:rPr lang="en-US" sz="1100" dirty="0">
                <a:solidFill>
                  <a:srgbClr val="0F172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User </a:t>
            </a:r>
            <a:r>
              <a:rPr lang="th-TH" sz="1100" dirty="0">
                <a:solidFill>
                  <a:srgbClr val="0F172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ที่ทำเกินเวลา หรือจบก่อนเวลา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366760" y="1280160"/>
            <a:ext cx="3703320" cy="246888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8366760" y="1280160"/>
            <a:ext cx="3703320" cy="914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8641080" y="1554480"/>
            <a:ext cx="640080" cy="64008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8641080" y="15544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4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✓</a:t>
            </a:r>
            <a:endParaRPr lang="en-US" sz="1540" dirty="0"/>
          </a:p>
        </p:txBody>
      </p:sp>
      <p:sp>
        <p:nvSpPr>
          <p:cNvPr id="23" name="Text 21"/>
          <p:cNvSpPr/>
          <p:nvPr/>
        </p:nvSpPr>
        <p:spPr>
          <a:xfrm>
            <a:off x="9418320" y="1527048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Workflow อนุมัติ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418320" y="1901952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Multi-step Approval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641080" y="2377440"/>
            <a:ext cx="31546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800"/>
              </a:lnSpc>
              <a:buSzPct val="100000"/>
              <a:buChar char="●"/>
            </a:pPr>
            <a:r>
              <a:rPr lang="en-US" sz="1100" dirty="0">
                <a:solidFill>
                  <a:srgbClr val="0F172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Office 2 step / ผลิต 3 step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●"/>
            </a:pPr>
            <a:r>
              <a:rPr lang="en-US" sz="1100" dirty="0">
                <a:solidFill>
                  <a:srgbClr val="0F172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Bulk + รายคน Approve/Reject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●"/>
            </a:pPr>
            <a:r>
              <a:rPr lang="en-US" sz="1100" dirty="0">
                <a:solidFill>
                  <a:srgbClr val="0F172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Email แจ้งทุกขั้นตอน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11480" y="4023360"/>
            <a:ext cx="3703320" cy="246888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411480" y="4023360"/>
            <a:ext cx="3703320" cy="914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685800" y="4297680"/>
            <a:ext cx="640080" cy="64008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85800" y="42976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4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👥</a:t>
            </a:r>
            <a:endParaRPr lang="en-US" sz="1540" dirty="0"/>
          </a:p>
        </p:txBody>
      </p:sp>
      <p:sp>
        <p:nvSpPr>
          <p:cNvPr id="30" name="Text 28"/>
          <p:cNvSpPr/>
          <p:nvPr/>
        </p:nvSpPr>
        <p:spPr>
          <a:xfrm>
            <a:off x="1463040" y="4270248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ข้อมูลหลัก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463040" y="4645152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Master Data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85800" y="5120640"/>
            <a:ext cx="31546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800"/>
              </a:lnSpc>
              <a:buSzPct val="100000"/>
              <a:buChar char="●"/>
            </a:pPr>
            <a:r>
              <a:rPr lang="en-US" sz="1100" dirty="0">
                <a:solidFill>
                  <a:srgbClr val="0F172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พนักงาน · แผนก · ฝ่าย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●"/>
            </a:pPr>
            <a:r>
              <a:rPr lang="en-US" sz="1100" dirty="0">
                <a:solidFill>
                  <a:srgbClr val="0F172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ประเภทการลา + เหตุผลปฏิเสธ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●"/>
            </a:pPr>
            <a:r>
              <a:rPr lang="en-US" sz="1100" dirty="0">
                <a:solidFill>
                  <a:srgbClr val="0F172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สายรถ default ต่อพนักงาน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389120" y="4023360"/>
            <a:ext cx="3703320" cy="246888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4389120" y="4023360"/>
            <a:ext cx="3703320" cy="9144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4663440" y="4297680"/>
            <a:ext cx="640080" cy="64008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4663440" y="42976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4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📊</a:t>
            </a:r>
            <a:endParaRPr lang="en-US" sz="1540" dirty="0"/>
          </a:p>
        </p:txBody>
      </p:sp>
      <p:sp>
        <p:nvSpPr>
          <p:cNvPr id="37" name="Text 35"/>
          <p:cNvSpPr/>
          <p:nvPr/>
        </p:nvSpPr>
        <p:spPr>
          <a:xfrm>
            <a:off x="5440680" y="4270248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รายงาน &amp; ดาวน์โหลด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5440680" y="4645152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Reports &amp; Excel Export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663440" y="5120640"/>
            <a:ext cx="31546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800"/>
              </a:lnSpc>
              <a:buSzPct val="100000"/>
              <a:buChar char="●"/>
            </a:pPr>
            <a:r>
              <a:rPr lang="en-US" sz="1100" dirty="0">
                <a:solidFill>
                  <a:srgbClr val="0F172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Leave Monthly + รหัส code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●"/>
            </a:pPr>
            <a:r>
              <a:rPr lang="en-US" sz="1100" dirty="0">
                <a:solidFill>
                  <a:srgbClr val="0F172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OT Summary + สรุปสายรถ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●"/>
            </a:pPr>
            <a:r>
              <a:rPr lang="en-US" sz="1100" dirty="0">
                <a:solidFill>
                  <a:srgbClr val="0F172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Filter ตามกะ + Export Excel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8366760" y="4023360"/>
            <a:ext cx="3703320" cy="246888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8366760" y="4023360"/>
            <a:ext cx="3703320" cy="914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8641080" y="4297680"/>
            <a:ext cx="640080" cy="64008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8641080" y="42976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4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📧</a:t>
            </a:r>
            <a:endParaRPr lang="en-US" sz="1540" dirty="0"/>
          </a:p>
        </p:txBody>
      </p:sp>
      <p:sp>
        <p:nvSpPr>
          <p:cNvPr id="44" name="Text 42"/>
          <p:cNvSpPr/>
          <p:nvPr/>
        </p:nvSpPr>
        <p:spPr>
          <a:xfrm>
            <a:off x="9418320" y="4270248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การแจ้งเตือน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9418320" y="4645152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Email Notifications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8641080" y="5120640"/>
            <a:ext cx="31546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800"/>
              </a:lnSpc>
              <a:buSzPct val="100000"/>
              <a:buChar char="●"/>
            </a:pPr>
            <a:r>
              <a:rPr lang="en-US" sz="1100" dirty="0">
                <a:solidFill>
                  <a:srgbClr val="0F172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Email สีตามสถานะ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●"/>
            </a:pPr>
            <a:r>
              <a:rPr lang="en-US" sz="1100" dirty="0">
                <a:solidFill>
                  <a:srgbClr val="0F172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FYI Email ข้ามแผนก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●"/>
            </a:pPr>
            <a:r>
              <a:rPr lang="en-US" sz="1100" dirty="0">
                <a:solidFill>
                  <a:srgbClr val="0F172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รายละเอียดครบทุกฉบับ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36576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AMS — Attendance Management System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 / 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40080" y="411480"/>
            <a:ext cx="640080" cy="64008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4114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4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📅</a:t>
            </a:r>
            <a:endParaRPr lang="en-US" sz="1540" dirty="0"/>
          </a:p>
        </p:txBody>
      </p:sp>
      <p:sp>
        <p:nvSpPr>
          <p:cNvPr id="5" name="Text 3"/>
          <p:cNvSpPr/>
          <p:nvPr/>
        </p:nvSpPr>
        <p:spPr>
          <a:xfrm>
            <a:off x="1417320" y="365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Module 1 · ระบบจัดการการลา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417320" y="6400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Leave Management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640080" y="1691640"/>
            <a:ext cx="411480" cy="41148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0080" y="16916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9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</a:t>
            </a:r>
            <a:endParaRPr lang="en-US" sz="990" dirty="0"/>
          </a:p>
        </p:txBody>
      </p:sp>
      <p:sp>
        <p:nvSpPr>
          <p:cNvPr id="9" name="Text 7"/>
          <p:cNvSpPr/>
          <p:nvPr/>
        </p:nvSpPr>
        <p:spPr>
          <a:xfrm>
            <a:off x="1234440" y="16459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ลาครึ่งวัน เช้า/บ่าย + เลือกหลายวัน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234440" y="20116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ใช้ได้ทุกประเภทการลา ไม่ต้องระบุเวลา — ผสมเต็มวัน + ครึ่งวันในใบเดียวได้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" y="2536176"/>
            <a:ext cx="411480" cy="41148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40080" y="25534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9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</a:t>
            </a:r>
            <a:endParaRPr lang="en-US" sz="990" dirty="0"/>
          </a:p>
        </p:txBody>
      </p:sp>
      <p:sp>
        <p:nvSpPr>
          <p:cNvPr id="13" name="Text 11"/>
          <p:cNvSpPr/>
          <p:nvPr/>
        </p:nvSpPr>
        <p:spPr>
          <a:xfrm>
            <a:off x="1234440" y="2490456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หัวหน้าเห็นสิทธิ์ลูกน้องทั้งทีม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234440" y="2856216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ดูยอดวันลาคงเหลือของลูกน้องก่อนสร้างใบลาได้ทันที — ไม่ต้องถาม HR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0080" y="3346188"/>
            <a:ext cx="411480" cy="41148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40080" y="33634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9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</a:t>
            </a:r>
            <a:endParaRPr lang="en-US" sz="990" dirty="0"/>
          </a:p>
        </p:txBody>
      </p:sp>
      <p:sp>
        <p:nvSpPr>
          <p:cNvPr id="17" name="Text 15"/>
          <p:cNvSpPr/>
          <p:nvPr/>
        </p:nvSpPr>
        <p:spPr>
          <a:xfrm>
            <a:off x="1234440" y="3300468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เหตุผลปฏิเสธ — Dropdown + อธิบายเพิ่ม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34440" y="3666228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HR กำหนด Master เอง (LRR001, LRR002, …) + Bulk Approve/Reject ทีละหลายใบ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0080" y="4207978"/>
            <a:ext cx="411480" cy="41148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40080" y="420797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9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</a:t>
            </a:r>
            <a:endParaRPr lang="en-US" sz="990" dirty="0"/>
          </a:p>
        </p:txBody>
      </p:sp>
      <p:sp>
        <p:nvSpPr>
          <p:cNvPr id="21" name="Text 19"/>
          <p:cNvSpPr/>
          <p:nvPr/>
        </p:nvSpPr>
        <p:spPr>
          <a:xfrm>
            <a:off x="1234440" y="4162258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รหัสประเภทการลา (Code) แสดงทุกที่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234440" y="4528018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List · Detail · Email · Excel (export ได้) — เช่น VACATION-ลาพักร้อน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858000" y="1463039"/>
            <a:ext cx="4846320" cy="4911881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6858000" y="1463040"/>
            <a:ext cx="484632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6949440" y="1554480"/>
            <a:ext cx="109728" cy="10972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7114032" y="1554480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7278624" y="1554480"/>
            <a:ext cx="109728" cy="1097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7772400" y="150876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ams.local / leave / create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7086600" y="192024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สร้างใบลา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7086600" y="237744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พนักงาน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7086600" y="2560320"/>
            <a:ext cx="4389120" cy="292608"/>
          </a:xfrm>
          <a:prstGeom prst="roundRect">
            <a:avLst>
              <a:gd name="adj" fmla="val 15625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7223760" y="2560320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F172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A-092 — ศรีไพบูลย์ เขียวสีม่วง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7086600" y="3017520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เลือกวันลา *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7086600" y="3200400"/>
            <a:ext cx="4389120" cy="292608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7223760" y="3200400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คลิกเพื่อเลือกวัน — จะถูกเพิ่มลงรายการอัตโนมัติ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11201400" y="3200400"/>
            <a:ext cx="274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🗓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7086600" y="3611880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F172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เลือกแล้ว 3 รายการ (2.5 วัน)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10789920" y="3611880"/>
            <a:ext cx="685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EF444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ล้างทั้งหมด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7086600" y="3840480"/>
            <a:ext cx="4389120" cy="100584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7178040" y="3904488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F172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📅 11 ก.ค. 2569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8641080" y="3931920"/>
            <a:ext cx="685800" cy="201168"/>
          </a:xfrm>
          <a:prstGeom prst="roundRect">
            <a:avLst>
              <a:gd name="adj" fmla="val 18182"/>
            </a:avLst>
          </a:prstGeom>
          <a:solidFill>
            <a:srgbClr val="4F46E5"/>
          </a:solidFill>
          <a:ln w="635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8641080" y="3931920"/>
            <a:ext cx="685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เต็มวัน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9363456" y="3931920"/>
            <a:ext cx="685800" cy="201168"/>
          </a:xfrm>
          <a:prstGeom prst="roundRect">
            <a:avLst>
              <a:gd name="adj" fmla="val 18182"/>
            </a:avLst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9363456" y="3931920"/>
            <a:ext cx="685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ครึ่งเช้า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10085832" y="3931920"/>
            <a:ext cx="685800" cy="201168"/>
          </a:xfrm>
          <a:prstGeom prst="roundRect">
            <a:avLst>
              <a:gd name="adj" fmla="val 18182"/>
            </a:avLst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10085832" y="3931920"/>
            <a:ext cx="685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ครึ่งบ่าย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11247120" y="3904488"/>
            <a:ext cx="228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F444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✕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7178040" y="4187952"/>
            <a:ext cx="4206240" cy="457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7178040" y="4215384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F172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📅 15 ก.ค. 2569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8641080" y="4242816"/>
            <a:ext cx="685800" cy="201168"/>
          </a:xfrm>
          <a:prstGeom prst="roundRect">
            <a:avLst>
              <a:gd name="adj" fmla="val 18182"/>
            </a:avLst>
          </a:prstGeom>
          <a:solidFill>
            <a:srgbClr val="4F46E5"/>
          </a:solidFill>
          <a:ln w="635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8641080" y="4242816"/>
            <a:ext cx="685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เต็มวัน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9363456" y="4242816"/>
            <a:ext cx="685800" cy="201168"/>
          </a:xfrm>
          <a:prstGeom prst="roundRect">
            <a:avLst>
              <a:gd name="adj" fmla="val 18182"/>
            </a:avLst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9363456" y="4242816"/>
            <a:ext cx="685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ครึ่งเช้า</a:t>
            </a:r>
            <a:endParaRPr lang="en-US" sz="750" dirty="0"/>
          </a:p>
        </p:txBody>
      </p:sp>
      <p:sp>
        <p:nvSpPr>
          <p:cNvPr id="54" name="Shape 52"/>
          <p:cNvSpPr/>
          <p:nvPr/>
        </p:nvSpPr>
        <p:spPr>
          <a:xfrm>
            <a:off x="10085832" y="4242816"/>
            <a:ext cx="685800" cy="201168"/>
          </a:xfrm>
          <a:prstGeom prst="roundRect">
            <a:avLst>
              <a:gd name="adj" fmla="val 18182"/>
            </a:avLst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10085832" y="4242816"/>
            <a:ext cx="685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ครึ่งบ่าย</a:t>
            </a:r>
            <a:endParaRPr lang="en-US" sz="750" dirty="0"/>
          </a:p>
        </p:txBody>
      </p:sp>
      <p:sp>
        <p:nvSpPr>
          <p:cNvPr id="56" name="Text 54"/>
          <p:cNvSpPr/>
          <p:nvPr/>
        </p:nvSpPr>
        <p:spPr>
          <a:xfrm>
            <a:off x="11247120" y="4215384"/>
            <a:ext cx="228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F444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✕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7178040" y="4498848"/>
            <a:ext cx="4206240" cy="457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7178040" y="452628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F172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📅 16 ก.ค. 2569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8641080" y="4553712"/>
            <a:ext cx="685800" cy="201168"/>
          </a:xfrm>
          <a:prstGeom prst="roundRect">
            <a:avLst>
              <a:gd name="adj" fmla="val 18182"/>
            </a:avLst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8641080" y="4553712"/>
            <a:ext cx="685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เต็มวัน</a:t>
            </a:r>
            <a:endParaRPr lang="en-US" sz="750" dirty="0"/>
          </a:p>
        </p:txBody>
      </p:sp>
      <p:sp>
        <p:nvSpPr>
          <p:cNvPr id="61" name="Shape 59"/>
          <p:cNvSpPr/>
          <p:nvPr/>
        </p:nvSpPr>
        <p:spPr>
          <a:xfrm>
            <a:off x="9363456" y="4553712"/>
            <a:ext cx="685800" cy="201168"/>
          </a:xfrm>
          <a:prstGeom prst="roundRect">
            <a:avLst>
              <a:gd name="adj" fmla="val 18182"/>
            </a:avLst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9363456" y="4553712"/>
            <a:ext cx="685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ครึ่งเช้า</a:t>
            </a:r>
            <a:endParaRPr lang="en-US" sz="750" dirty="0"/>
          </a:p>
        </p:txBody>
      </p:sp>
      <p:sp>
        <p:nvSpPr>
          <p:cNvPr id="63" name="Shape 61"/>
          <p:cNvSpPr/>
          <p:nvPr/>
        </p:nvSpPr>
        <p:spPr>
          <a:xfrm>
            <a:off x="10085832" y="4553712"/>
            <a:ext cx="685800" cy="201168"/>
          </a:xfrm>
          <a:prstGeom prst="roundRect">
            <a:avLst>
              <a:gd name="adj" fmla="val 18182"/>
            </a:avLst>
          </a:prstGeom>
          <a:solidFill>
            <a:srgbClr val="6366F1"/>
          </a:solidFill>
          <a:ln w="635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Text 62"/>
          <p:cNvSpPr/>
          <p:nvPr/>
        </p:nvSpPr>
        <p:spPr>
          <a:xfrm>
            <a:off x="10085832" y="4553712"/>
            <a:ext cx="685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ครึ่งบ่าย</a:t>
            </a:r>
            <a:endParaRPr lang="en-US" sz="750" dirty="0"/>
          </a:p>
        </p:txBody>
      </p:sp>
      <p:sp>
        <p:nvSpPr>
          <p:cNvPr id="65" name="Text 63"/>
          <p:cNvSpPr/>
          <p:nvPr/>
        </p:nvSpPr>
        <p:spPr>
          <a:xfrm>
            <a:off x="11247120" y="4526280"/>
            <a:ext cx="228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F444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✕</a:t>
            </a:r>
            <a:endParaRPr lang="en-US" sz="1000" dirty="0"/>
          </a:p>
        </p:txBody>
      </p:sp>
      <p:sp>
        <p:nvSpPr>
          <p:cNvPr id="66" name="Text 64"/>
          <p:cNvSpPr/>
          <p:nvPr/>
        </p:nvSpPr>
        <p:spPr>
          <a:xfrm>
            <a:off x="7086600" y="491947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💡 คลิก เต็มวัน / ครึ่งเช้า / ครึ่งบ่าย เพื่อเปลี่ยนสำหรับแต่ละวัน</a:t>
            </a:r>
            <a:endParaRPr lang="en-US" sz="750" dirty="0"/>
          </a:p>
        </p:txBody>
      </p:sp>
      <p:sp>
        <p:nvSpPr>
          <p:cNvPr id="67" name="Shape 65"/>
          <p:cNvSpPr/>
          <p:nvPr/>
        </p:nvSpPr>
        <p:spPr>
          <a:xfrm>
            <a:off x="7086600" y="5166360"/>
            <a:ext cx="4389120" cy="457200"/>
          </a:xfrm>
          <a:prstGeom prst="roundRect">
            <a:avLst>
              <a:gd name="adj" fmla="val 10000"/>
            </a:avLst>
          </a:prstGeom>
          <a:solidFill>
            <a:srgbClr val="F0F9FF"/>
          </a:solidFill>
          <a:ln w="6350">
            <a:solidFill>
              <a:srgbClr val="BAE6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Text 66"/>
          <p:cNvSpPr/>
          <p:nvPr/>
        </p:nvSpPr>
        <p:spPr>
          <a:xfrm>
            <a:off x="7223760" y="51663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รวมวันลา</a:t>
            </a:r>
            <a:endParaRPr lang="en-US" sz="1100" dirty="0"/>
          </a:p>
        </p:txBody>
      </p:sp>
      <p:sp>
        <p:nvSpPr>
          <p:cNvPr id="69" name="Text 67"/>
          <p:cNvSpPr/>
          <p:nvPr/>
        </p:nvSpPr>
        <p:spPr>
          <a:xfrm>
            <a:off x="10424160" y="516636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4F46E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2.5 วัน</a:t>
            </a:r>
            <a:endParaRPr lang="en-US" sz="1500" dirty="0"/>
          </a:p>
        </p:txBody>
      </p:sp>
      <p:sp>
        <p:nvSpPr>
          <p:cNvPr id="70" name="Shape 68"/>
          <p:cNvSpPr/>
          <p:nvPr/>
        </p:nvSpPr>
        <p:spPr>
          <a:xfrm>
            <a:off x="9548406" y="5838349"/>
            <a:ext cx="1920240" cy="411480"/>
          </a:xfrm>
          <a:prstGeom prst="roundRect">
            <a:avLst>
              <a:gd name="adj" fmla="val 11111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Text 69"/>
          <p:cNvSpPr/>
          <p:nvPr/>
        </p:nvSpPr>
        <p:spPr>
          <a:xfrm>
            <a:off x="9555480" y="5837839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บันทึกและส่งอนุมัติ →</a:t>
            </a:r>
            <a:endParaRPr lang="en-US" sz="1000" dirty="0"/>
          </a:p>
        </p:txBody>
      </p:sp>
      <p:sp>
        <p:nvSpPr>
          <p:cNvPr id="72" name="Text 70"/>
          <p:cNvSpPr/>
          <p:nvPr/>
        </p:nvSpPr>
        <p:spPr>
          <a:xfrm>
            <a:off x="36576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AMS — Attendance Management System</a:t>
            </a:r>
            <a:endParaRPr lang="en-US" sz="900" dirty="0"/>
          </a:p>
        </p:txBody>
      </p:sp>
      <p:sp>
        <p:nvSpPr>
          <p:cNvPr id="73" name="Text 71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 / 6</a:t>
            </a:r>
            <a:endParaRPr lang="en-US" sz="900" dirty="0"/>
          </a:p>
        </p:txBody>
      </p:sp>
      <p:sp>
        <p:nvSpPr>
          <p:cNvPr id="81" name="Text 15">
            <a:extLst>
              <a:ext uri="{FF2B5EF4-FFF2-40B4-BE49-F238E27FC236}">
                <a16:creationId xmlns:a16="http://schemas.microsoft.com/office/drawing/2014/main" id="{17B16A1E-A57E-7437-7599-F0A827F48A8E}"/>
              </a:ext>
            </a:extLst>
          </p:cNvPr>
          <p:cNvSpPr/>
          <p:nvPr/>
        </p:nvSpPr>
        <p:spPr>
          <a:xfrm>
            <a:off x="1234440" y="4982619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Carry-over วันลา</a:t>
            </a:r>
            <a:endParaRPr lang="en-US" sz="1400" dirty="0"/>
          </a:p>
        </p:txBody>
      </p:sp>
      <p:sp>
        <p:nvSpPr>
          <p:cNvPr id="82" name="Text 16">
            <a:extLst>
              <a:ext uri="{FF2B5EF4-FFF2-40B4-BE49-F238E27FC236}">
                <a16:creationId xmlns:a16="http://schemas.microsoft.com/office/drawing/2014/main" id="{B766223F-3B8C-124E-3AA5-CF31A8456060}"/>
              </a:ext>
            </a:extLst>
          </p:cNvPr>
          <p:cNvSpPr/>
          <p:nvPr/>
        </p:nvSpPr>
        <p:spPr>
          <a:xfrm>
            <a:off x="1234440" y="5348379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วันลาเหลือ → โอนเข้าปีถัดไป (ไม่เกินเพดาน 5 วัน) อัตโนมัติ</a:t>
            </a:r>
            <a:endParaRPr lang="en-US" sz="1100" dirty="0"/>
          </a:p>
        </p:txBody>
      </p:sp>
      <p:sp>
        <p:nvSpPr>
          <p:cNvPr id="86" name="Shape 17">
            <a:extLst>
              <a:ext uri="{FF2B5EF4-FFF2-40B4-BE49-F238E27FC236}">
                <a16:creationId xmlns:a16="http://schemas.microsoft.com/office/drawing/2014/main" id="{98D79E7E-31D4-1ADF-0971-EA4F7AE74658}"/>
              </a:ext>
            </a:extLst>
          </p:cNvPr>
          <p:cNvSpPr/>
          <p:nvPr/>
        </p:nvSpPr>
        <p:spPr>
          <a:xfrm>
            <a:off x="640080" y="5031799"/>
            <a:ext cx="411480" cy="41148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7" name="Text 18">
            <a:extLst>
              <a:ext uri="{FF2B5EF4-FFF2-40B4-BE49-F238E27FC236}">
                <a16:creationId xmlns:a16="http://schemas.microsoft.com/office/drawing/2014/main" id="{25184956-B696-BF96-013A-3FE982A94006}"/>
              </a:ext>
            </a:extLst>
          </p:cNvPr>
          <p:cNvSpPr/>
          <p:nvPr/>
        </p:nvSpPr>
        <p:spPr>
          <a:xfrm>
            <a:off x="640080" y="5031799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9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5</a:t>
            </a:r>
            <a:endParaRPr lang="en-US" sz="990" dirty="0"/>
          </a:p>
        </p:txBody>
      </p:sp>
      <p:sp>
        <p:nvSpPr>
          <p:cNvPr id="88" name="Shape 17">
            <a:extLst>
              <a:ext uri="{FF2B5EF4-FFF2-40B4-BE49-F238E27FC236}">
                <a16:creationId xmlns:a16="http://schemas.microsoft.com/office/drawing/2014/main" id="{4F19419F-85E2-94B3-9E98-911AE5FC928D}"/>
              </a:ext>
            </a:extLst>
          </p:cNvPr>
          <p:cNvSpPr/>
          <p:nvPr/>
        </p:nvSpPr>
        <p:spPr>
          <a:xfrm>
            <a:off x="640080" y="5838349"/>
            <a:ext cx="411480" cy="41148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en-TH" dirty="0"/>
          </a:p>
        </p:txBody>
      </p:sp>
      <p:sp>
        <p:nvSpPr>
          <p:cNvPr id="89" name="Text 18">
            <a:extLst>
              <a:ext uri="{FF2B5EF4-FFF2-40B4-BE49-F238E27FC236}">
                <a16:creationId xmlns:a16="http://schemas.microsoft.com/office/drawing/2014/main" id="{DA040CA2-BD8B-4D40-4D37-A6B9DB22B35A}"/>
              </a:ext>
            </a:extLst>
          </p:cNvPr>
          <p:cNvSpPr/>
          <p:nvPr/>
        </p:nvSpPr>
        <p:spPr>
          <a:xfrm>
            <a:off x="640080" y="5838349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9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6</a:t>
            </a:r>
            <a:endParaRPr lang="en-US" sz="990" dirty="0"/>
          </a:p>
        </p:txBody>
      </p:sp>
      <p:sp>
        <p:nvSpPr>
          <p:cNvPr id="90" name="Text 19">
            <a:extLst>
              <a:ext uri="{FF2B5EF4-FFF2-40B4-BE49-F238E27FC236}">
                <a16:creationId xmlns:a16="http://schemas.microsoft.com/office/drawing/2014/main" id="{478F6250-B4C4-9D74-C967-B07CED36D314}"/>
              </a:ext>
            </a:extLst>
          </p:cNvPr>
          <p:cNvSpPr/>
          <p:nvPr/>
        </p:nvSpPr>
        <p:spPr>
          <a:xfrm>
            <a:off x="1234440" y="5792629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ขอยกเลิกใบลา → HR review</a:t>
            </a:r>
            <a:endParaRPr lang="en-US" sz="1400" dirty="0"/>
          </a:p>
        </p:txBody>
      </p:sp>
      <p:sp>
        <p:nvSpPr>
          <p:cNvPr id="91" name="Text 20">
            <a:extLst>
              <a:ext uri="{FF2B5EF4-FFF2-40B4-BE49-F238E27FC236}">
                <a16:creationId xmlns:a16="http://schemas.microsoft.com/office/drawing/2014/main" id="{AFC54916-D0DC-526D-137D-DD0EAB28C06A}"/>
              </a:ext>
            </a:extLst>
          </p:cNvPr>
          <p:cNvSpPr/>
          <p:nvPr/>
        </p:nvSpPr>
        <p:spPr>
          <a:xfrm>
            <a:off x="1234440" y="6158389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ใบที่อนุมัติแล้ว ต้อง HR approve ก่อน + คืน balance ให้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40080" y="411480"/>
            <a:ext cx="640080" cy="6400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4114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4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⏰</a:t>
            </a:r>
            <a:endParaRPr lang="en-US" sz="1540" dirty="0"/>
          </a:p>
        </p:txBody>
      </p:sp>
      <p:sp>
        <p:nvSpPr>
          <p:cNvPr id="5" name="Text 3"/>
          <p:cNvSpPr/>
          <p:nvPr/>
        </p:nvSpPr>
        <p:spPr>
          <a:xfrm>
            <a:off x="1417320" y="365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Module 2 · ระบบจัดการ OT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417320" y="6400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Overtime Management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640080" y="1691640"/>
            <a:ext cx="411480" cy="4114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0080" y="16916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9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</a:t>
            </a:r>
            <a:endParaRPr lang="en-US" sz="990" dirty="0"/>
          </a:p>
        </p:txBody>
      </p:sp>
      <p:sp>
        <p:nvSpPr>
          <p:cNvPr id="9" name="Text 7"/>
          <p:cNvSpPr/>
          <p:nvPr/>
        </p:nvSpPr>
        <p:spPr>
          <a:xfrm>
            <a:off x="1234440" y="16459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สายรถผูก default ต่อพนักงาน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234440" y="20116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ติ๊กพนักงาน → สายรถ auto-fill จาก default — Override รายคนได้ถ้ามีการเปลี่ยนแปลง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" y="2743200"/>
            <a:ext cx="411480" cy="4114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40080" y="27432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9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</a:t>
            </a:r>
            <a:endParaRPr lang="en-US" sz="990" dirty="0"/>
          </a:p>
        </p:txBody>
      </p:sp>
      <p:sp>
        <p:nvSpPr>
          <p:cNvPr id="13" name="Text 11"/>
          <p:cNvSpPr/>
          <p:nvPr/>
        </p:nvSpPr>
        <p:spPr>
          <a:xfrm>
            <a:off x="1234440" y="26974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ลักษณะงาน + Remark รายคน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234440" y="30632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แต่ละคนกรอกลักษณะงานต่างกันได้ + Remark กรณีอยู่ต่อ/เลิกก่อนเวลา · รองรับ OT วันหยุด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0080" y="3794760"/>
            <a:ext cx="411480" cy="4114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40080" y="37947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9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</a:t>
            </a:r>
            <a:endParaRPr lang="en-US" sz="990" dirty="0"/>
          </a:p>
        </p:txBody>
      </p:sp>
      <p:sp>
        <p:nvSpPr>
          <p:cNvPr id="17" name="Text 15"/>
          <p:cNvSpPr/>
          <p:nvPr/>
        </p:nvSpPr>
        <p:spPr>
          <a:xfrm>
            <a:off x="1234440" y="37490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Approve/Reject รายคน + Cross-dept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34440" y="41148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ผู้อนุมัติเลือกรายชื่อ → คนติ๊ก approved, ไม่ติ๊ก ผ่าน · ส่ง FYI email หัวหน้าแผนกต้นสังกัด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0080" y="4846320"/>
            <a:ext cx="411480" cy="4114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40080" y="48463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9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</a:t>
            </a:r>
            <a:endParaRPr lang="en-US" sz="990" dirty="0"/>
          </a:p>
        </p:txBody>
      </p:sp>
      <p:sp>
        <p:nvSpPr>
          <p:cNvPr id="21" name="Text 19"/>
          <p:cNvSpPr/>
          <p:nvPr/>
        </p:nvSpPr>
        <p:spPr>
          <a:xfrm>
            <a:off x="1234440" y="48006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รายงาน OT ครบทุกมุม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234440" y="51663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สรุปสายรถ × คน × วัน + Filter ตามกะ Day/Night + Excel 2 sheet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858000" y="1463040"/>
            <a:ext cx="4846320" cy="457200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6858000" y="1463040"/>
            <a:ext cx="484632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6949440" y="1554480"/>
            <a:ext cx="109728" cy="10972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7114032" y="1554480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7278624" y="1554480"/>
            <a:ext cx="109728" cy="1097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7772400" y="150876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ams.local / ot / create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7086600" y="192024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สร้าง OT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7086600" y="237744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กะ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7086600" y="2560320"/>
            <a:ext cx="2194560" cy="548640"/>
          </a:xfrm>
          <a:prstGeom prst="roundRect">
            <a:avLst>
              <a:gd name="adj" fmla="val 8333"/>
            </a:avLst>
          </a:prstGeom>
          <a:solidFill>
            <a:srgbClr val="FFFBEB"/>
          </a:solidFill>
          <a:ln w="190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7086600" y="256032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2400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☀  Day (กะกลางวัน)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9372600" y="2560320"/>
            <a:ext cx="1874520" cy="5486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9372600" y="2560320"/>
            <a:ext cx="1874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🌙  Night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7086600" y="3291840"/>
            <a:ext cx="438912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7223760" y="329184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○  07:30 - 16:10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10424160" y="3291840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8.67 ชม.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7086600" y="3703320"/>
            <a:ext cx="438912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7223760" y="370332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○  07:30 - 19:30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10424160" y="3703320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12.00 ชม.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7086600" y="4114800"/>
            <a:ext cx="4389120" cy="347472"/>
          </a:xfrm>
          <a:prstGeom prst="roundRect">
            <a:avLst>
              <a:gd name="adj" fmla="val 13158"/>
            </a:avLst>
          </a:prstGeom>
          <a:solidFill>
            <a:srgbClr val="EEF2FF"/>
          </a:solidFill>
          <a:ln w="1905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7223760" y="411480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F46E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●  17:00 - 19:30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10424160" y="4114800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2.50 ชม.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7086600" y="4754880"/>
            <a:ext cx="4389120" cy="45720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7223760" y="475488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🚌  สายรถของแต่ละคน · 5 พนักงาน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7086600" y="5303520"/>
            <a:ext cx="4389120" cy="457200"/>
          </a:xfrm>
          <a:prstGeom prst="roundRect">
            <a:avLst>
              <a:gd name="adj" fmla="val 10000"/>
            </a:avLst>
          </a:prstGeom>
          <a:solidFill>
            <a:srgbClr val="FEF3C7"/>
          </a:solidFill>
          <a:ln w="63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7223760" y="530352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2400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รวม 2.50 ชั่วโมง × 5 คน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36576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AMS — Attendance Management System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 / 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40080" y="411480"/>
            <a:ext cx="640080" cy="64008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4114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4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✓</a:t>
            </a:r>
            <a:endParaRPr lang="en-US" sz="1540" dirty="0"/>
          </a:p>
        </p:txBody>
      </p:sp>
      <p:sp>
        <p:nvSpPr>
          <p:cNvPr id="5" name="Text 3"/>
          <p:cNvSpPr/>
          <p:nvPr/>
        </p:nvSpPr>
        <p:spPr>
          <a:xfrm>
            <a:off x="1417320" y="3657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Module 3 · Workflow อนุมัติ + รายงาน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417320" y="6400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Approval Flow &amp; Reports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640080" y="1554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Workflow การอนุมัติ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24145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Office (2 step)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2734568"/>
            <a:ext cx="16916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905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85800" y="2844296"/>
            <a:ext cx="1600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F46E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หัวหน้า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85800" y="3146048"/>
            <a:ext cx="1600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สร้างใบ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286000" y="282600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→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2651760" y="2734568"/>
            <a:ext cx="16916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90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697480" y="2844296"/>
            <a:ext cx="1600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9E0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ผจก.แผนก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697480" y="3146048"/>
            <a:ext cx="1600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อนุมัติ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297680" y="282600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→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4663440" y="2734568"/>
            <a:ext cx="16916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905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709160" y="2844296"/>
            <a:ext cx="1600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0B98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อนุมัติ ✓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709160" y="3146048"/>
            <a:ext cx="1600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เสร็จ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40080" y="374040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ผลิต (3 step)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40080" y="4060448"/>
            <a:ext cx="16916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905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85800" y="4170176"/>
            <a:ext cx="1600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F46E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หัวหน้า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85800" y="4471928"/>
            <a:ext cx="1600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สร้างใบ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2286000" y="415188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→</a:t>
            </a:r>
            <a:endParaRPr lang="en-US" sz="2200" dirty="0"/>
          </a:p>
        </p:txBody>
      </p:sp>
      <p:sp>
        <p:nvSpPr>
          <p:cNvPr id="25" name="Shape 23"/>
          <p:cNvSpPr/>
          <p:nvPr/>
        </p:nvSpPr>
        <p:spPr>
          <a:xfrm>
            <a:off x="2651760" y="4060448"/>
            <a:ext cx="16916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90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2697480" y="4170176"/>
            <a:ext cx="1600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9E0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ผจก.แผนก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2697480" y="4471928"/>
            <a:ext cx="1600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อนุมัติ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297680" y="415188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→</a:t>
            </a:r>
            <a:endParaRPr lang="en-US" sz="2200" dirty="0"/>
          </a:p>
        </p:txBody>
      </p:sp>
      <p:sp>
        <p:nvSpPr>
          <p:cNvPr id="29" name="Shape 27"/>
          <p:cNvSpPr/>
          <p:nvPr/>
        </p:nvSpPr>
        <p:spPr>
          <a:xfrm>
            <a:off x="4663440" y="4060448"/>
            <a:ext cx="16916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90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709160" y="4170176"/>
            <a:ext cx="1600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9E0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ผจก.โรงงาน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709160" y="4471928"/>
            <a:ext cx="1600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อนุมัติ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309360" y="415188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→</a:t>
            </a:r>
            <a:endParaRPr lang="en-US" sz="2200" dirty="0"/>
          </a:p>
        </p:txBody>
      </p:sp>
      <p:sp>
        <p:nvSpPr>
          <p:cNvPr id="36" name="Shape 34"/>
          <p:cNvSpPr/>
          <p:nvPr/>
        </p:nvSpPr>
        <p:spPr>
          <a:xfrm>
            <a:off x="640080" y="5020568"/>
            <a:ext cx="5486400" cy="731520"/>
          </a:xfrm>
          <a:prstGeom prst="roundRect">
            <a:avLst>
              <a:gd name="adj" fmla="val 10000"/>
            </a:avLst>
          </a:prstGeom>
          <a:solidFill>
            <a:srgbClr val="F0FDF4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777240" y="5185160"/>
            <a:ext cx="411480" cy="41148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777240" y="5185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9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★</a:t>
            </a:r>
            <a:endParaRPr lang="en-US" sz="990" dirty="0"/>
          </a:p>
        </p:txBody>
      </p:sp>
      <p:sp>
        <p:nvSpPr>
          <p:cNvPr id="39" name="Text 37"/>
          <p:cNvSpPr/>
          <p:nvPr/>
        </p:nvSpPr>
        <p:spPr>
          <a:xfrm>
            <a:off x="1325880" y="506628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F4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HR Admin คลิกเดียวจบ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1325880" y="534060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65F4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ไม่ต้องผ่าน 2-3 step — fast-track ตรงไป APPROVED</a:t>
            </a:r>
            <a:endParaRPr lang="en-US" sz="1000" dirty="0"/>
          </a:p>
        </p:txBody>
      </p:sp>
      <p:grpSp>
        <p:nvGrpSpPr>
          <p:cNvPr id="68" name="กลุ่ม 67">
            <a:extLst>
              <a:ext uri="{FF2B5EF4-FFF2-40B4-BE49-F238E27FC236}">
                <a16:creationId xmlns:a16="http://schemas.microsoft.com/office/drawing/2014/main" id="{05D44712-1902-499D-5CAF-AEFECB14C672}"/>
              </a:ext>
            </a:extLst>
          </p:cNvPr>
          <p:cNvGrpSpPr/>
          <p:nvPr/>
        </p:nvGrpSpPr>
        <p:grpSpPr>
          <a:xfrm>
            <a:off x="7631805" y="646113"/>
            <a:ext cx="4301115" cy="3752663"/>
            <a:chOff x="6583670" y="1691639"/>
            <a:chExt cx="5120643" cy="4434847"/>
          </a:xfrm>
        </p:grpSpPr>
        <p:sp>
          <p:nvSpPr>
            <p:cNvPr id="41" name="Shape 39"/>
            <p:cNvSpPr/>
            <p:nvPr/>
          </p:nvSpPr>
          <p:spPr>
            <a:xfrm>
              <a:off x="6583672" y="1691640"/>
              <a:ext cx="5120641" cy="4434846"/>
            </a:xfrm>
            <a:prstGeom prst="roundRect">
              <a:avLst>
                <a:gd name="adj" fmla="val 2474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Shape 40"/>
            <p:cNvSpPr/>
            <p:nvPr/>
          </p:nvSpPr>
          <p:spPr>
            <a:xfrm>
              <a:off x="6583670" y="1691639"/>
              <a:ext cx="5120638" cy="91440"/>
            </a:xfrm>
            <a:prstGeom prst="rect">
              <a:avLst/>
            </a:prstGeom>
            <a:solidFill>
              <a:srgbClr val="06B6D4"/>
            </a:solidFill>
            <a:ln w="12700">
              <a:solidFill>
                <a:srgbClr val="06B6D4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Text 41"/>
            <p:cNvSpPr/>
            <p:nvPr/>
          </p:nvSpPr>
          <p:spPr>
            <a:xfrm>
              <a:off x="6766560" y="1874520"/>
              <a:ext cx="475488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0F172A"/>
                  </a:solidFill>
                  <a:latin typeface="Tahoma" pitchFamily="34" charset="0"/>
                  <a:ea typeface="Tahoma" pitchFamily="34" charset="-122"/>
                  <a:cs typeface="Tahoma" pitchFamily="34" charset="-120"/>
                </a:rPr>
                <a:t>📊  รายงาน + Excel Export</a:t>
              </a:r>
              <a:endParaRPr lang="en-US" sz="1400" dirty="0"/>
            </a:p>
          </p:txBody>
        </p:sp>
        <p:sp>
          <p:nvSpPr>
            <p:cNvPr id="44" name="Text 42"/>
            <p:cNvSpPr/>
            <p:nvPr/>
          </p:nvSpPr>
          <p:spPr>
            <a:xfrm>
              <a:off x="6766560" y="2194560"/>
              <a:ext cx="475488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000" i="1" dirty="0">
                  <a:solidFill>
                    <a:srgbClr val="64748B"/>
                  </a:solidFill>
                  <a:latin typeface="Tahoma" pitchFamily="34" charset="0"/>
                  <a:ea typeface="Tahoma" pitchFamily="34" charset="-122"/>
                  <a:cs typeface="Tahoma" pitchFamily="34" charset="-120"/>
                </a:rPr>
                <a:t>ดูข้อมูลในตาราง + กรอง + ดาวน์โหลด</a:t>
              </a:r>
              <a:endParaRPr lang="en-US" sz="1000" dirty="0"/>
            </a:p>
          </p:txBody>
        </p:sp>
        <p:sp>
          <p:nvSpPr>
            <p:cNvPr id="46" name="Shape 44"/>
            <p:cNvSpPr/>
            <p:nvPr/>
          </p:nvSpPr>
          <p:spPr>
            <a:xfrm>
              <a:off x="7014754" y="3566160"/>
              <a:ext cx="502920" cy="1005840"/>
            </a:xfrm>
            <a:prstGeom prst="rect">
              <a:avLst/>
            </a:prstGeom>
            <a:solidFill>
              <a:srgbClr val="4F46E5"/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7" name="Text 45"/>
            <p:cNvSpPr/>
            <p:nvPr/>
          </p:nvSpPr>
          <p:spPr>
            <a:xfrm>
              <a:off x="6923314" y="4617720"/>
              <a:ext cx="68580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64748B"/>
                  </a:solidFill>
                  <a:latin typeface="Tahoma" pitchFamily="34" charset="0"/>
                  <a:ea typeface="Tahoma" pitchFamily="34" charset="-122"/>
                  <a:cs typeface="Tahoma" pitchFamily="34" charset="-120"/>
                </a:rPr>
                <a:t>ม.ค.</a:t>
              </a:r>
              <a:endParaRPr lang="en-US" sz="900" dirty="0"/>
            </a:p>
          </p:txBody>
        </p:sp>
        <p:sp>
          <p:nvSpPr>
            <p:cNvPr id="48" name="Shape 46"/>
            <p:cNvSpPr/>
            <p:nvPr/>
          </p:nvSpPr>
          <p:spPr>
            <a:xfrm>
              <a:off x="7765869" y="3200400"/>
              <a:ext cx="502920" cy="1371600"/>
            </a:xfrm>
            <a:prstGeom prst="rect">
              <a:avLst/>
            </a:prstGeom>
            <a:solidFill>
              <a:srgbClr val="06B6D4"/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Text 47"/>
            <p:cNvSpPr/>
            <p:nvPr/>
          </p:nvSpPr>
          <p:spPr>
            <a:xfrm>
              <a:off x="7674429" y="4617720"/>
              <a:ext cx="68580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64748B"/>
                  </a:solidFill>
                  <a:latin typeface="Tahoma" pitchFamily="34" charset="0"/>
                  <a:ea typeface="Tahoma" pitchFamily="34" charset="-122"/>
                  <a:cs typeface="Tahoma" pitchFamily="34" charset="-120"/>
                </a:rPr>
                <a:t>ก.พ.</a:t>
              </a:r>
              <a:endParaRPr lang="en-US" sz="900" dirty="0"/>
            </a:p>
          </p:txBody>
        </p:sp>
        <p:sp>
          <p:nvSpPr>
            <p:cNvPr id="50" name="Shape 48"/>
            <p:cNvSpPr/>
            <p:nvPr/>
          </p:nvSpPr>
          <p:spPr>
            <a:xfrm>
              <a:off x="8516983" y="3840480"/>
              <a:ext cx="502920" cy="731520"/>
            </a:xfrm>
            <a:prstGeom prst="rect">
              <a:avLst/>
            </a:prstGeom>
            <a:solidFill>
              <a:srgbClr val="4F46E5"/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Text 49"/>
            <p:cNvSpPr/>
            <p:nvPr/>
          </p:nvSpPr>
          <p:spPr>
            <a:xfrm>
              <a:off x="8425543" y="4617720"/>
              <a:ext cx="68580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64748B"/>
                  </a:solidFill>
                  <a:latin typeface="Tahoma" pitchFamily="34" charset="0"/>
                  <a:ea typeface="Tahoma" pitchFamily="34" charset="-122"/>
                  <a:cs typeface="Tahoma" pitchFamily="34" charset="-120"/>
                </a:rPr>
                <a:t>มี.ค.</a:t>
              </a:r>
              <a:endParaRPr lang="en-US" sz="900" dirty="0"/>
            </a:p>
          </p:txBody>
        </p:sp>
        <p:sp>
          <p:nvSpPr>
            <p:cNvPr id="52" name="Shape 50"/>
            <p:cNvSpPr/>
            <p:nvPr/>
          </p:nvSpPr>
          <p:spPr>
            <a:xfrm>
              <a:off x="9268097" y="2926080"/>
              <a:ext cx="502920" cy="1645920"/>
            </a:xfrm>
            <a:prstGeom prst="rect">
              <a:avLst/>
            </a:prstGeom>
            <a:solidFill>
              <a:srgbClr val="06B6D4"/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Text 51"/>
            <p:cNvSpPr/>
            <p:nvPr/>
          </p:nvSpPr>
          <p:spPr>
            <a:xfrm>
              <a:off x="9176657" y="4617720"/>
              <a:ext cx="68580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64748B"/>
                  </a:solidFill>
                  <a:latin typeface="Tahoma" pitchFamily="34" charset="0"/>
                  <a:ea typeface="Tahoma" pitchFamily="34" charset="-122"/>
                  <a:cs typeface="Tahoma" pitchFamily="34" charset="-120"/>
                </a:rPr>
                <a:t>เม.ย.</a:t>
              </a:r>
              <a:endParaRPr lang="en-US" sz="900" dirty="0"/>
            </a:p>
          </p:txBody>
        </p:sp>
        <p:sp>
          <p:nvSpPr>
            <p:cNvPr id="54" name="Shape 52"/>
            <p:cNvSpPr/>
            <p:nvPr/>
          </p:nvSpPr>
          <p:spPr>
            <a:xfrm>
              <a:off x="10019211" y="3383280"/>
              <a:ext cx="502920" cy="1188720"/>
            </a:xfrm>
            <a:prstGeom prst="rect">
              <a:avLst/>
            </a:prstGeom>
            <a:solidFill>
              <a:srgbClr val="4F46E5"/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5" name="Text 53"/>
            <p:cNvSpPr/>
            <p:nvPr/>
          </p:nvSpPr>
          <p:spPr>
            <a:xfrm>
              <a:off x="9927771" y="4617720"/>
              <a:ext cx="68580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64748B"/>
                  </a:solidFill>
                  <a:latin typeface="Tahoma" pitchFamily="34" charset="0"/>
                  <a:ea typeface="Tahoma" pitchFamily="34" charset="-122"/>
                  <a:cs typeface="Tahoma" pitchFamily="34" charset="-120"/>
                </a:rPr>
                <a:t>พ.ค.</a:t>
              </a:r>
              <a:endParaRPr lang="en-US" sz="900" dirty="0"/>
            </a:p>
          </p:txBody>
        </p:sp>
        <p:sp>
          <p:nvSpPr>
            <p:cNvPr id="56" name="Shape 54"/>
            <p:cNvSpPr/>
            <p:nvPr/>
          </p:nvSpPr>
          <p:spPr>
            <a:xfrm>
              <a:off x="10770326" y="3017520"/>
              <a:ext cx="502920" cy="1554480"/>
            </a:xfrm>
            <a:prstGeom prst="rect">
              <a:avLst/>
            </a:prstGeom>
            <a:solidFill>
              <a:srgbClr val="06B6D4"/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7" name="Text 55"/>
            <p:cNvSpPr/>
            <p:nvPr/>
          </p:nvSpPr>
          <p:spPr>
            <a:xfrm>
              <a:off x="10678886" y="4617720"/>
              <a:ext cx="68580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64748B"/>
                  </a:solidFill>
                  <a:latin typeface="Tahoma" pitchFamily="34" charset="0"/>
                  <a:ea typeface="Tahoma" pitchFamily="34" charset="-122"/>
                  <a:cs typeface="Tahoma" pitchFamily="34" charset="-120"/>
                </a:rPr>
                <a:t>มิ.ย.</a:t>
              </a:r>
              <a:endParaRPr lang="en-US" sz="900" dirty="0"/>
            </a:p>
          </p:txBody>
        </p:sp>
        <p:sp>
          <p:nvSpPr>
            <p:cNvPr id="59" name="Text 57"/>
            <p:cNvSpPr/>
            <p:nvPr/>
          </p:nvSpPr>
          <p:spPr>
            <a:xfrm>
              <a:off x="6903720" y="4937760"/>
              <a:ext cx="365760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0F172A"/>
                  </a:solidFill>
                  <a:latin typeface="Tahoma" pitchFamily="34" charset="0"/>
                  <a:ea typeface="Tahoma" pitchFamily="34" charset="-122"/>
                  <a:cs typeface="Tahoma" pitchFamily="34" charset="-120"/>
                </a:rPr>
                <a:t>📄  Leave Monthly Report</a:t>
              </a:r>
              <a:endParaRPr lang="en-US" sz="1100" dirty="0"/>
            </a:p>
          </p:txBody>
        </p:sp>
        <p:sp>
          <p:nvSpPr>
            <p:cNvPr id="60" name="Shape 58"/>
            <p:cNvSpPr/>
            <p:nvPr/>
          </p:nvSpPr>
          <p:spPr>
            <a:xfrm>
              <a:off x="10515600" y="4983480"/>
              <a:ext cx="914400" cy="274320"/>
            </a:xfrm>
            <a:prstGeom prst="roundRect">
              <a:avLst>
                <a:gd name="adj" fmla="val 13333"/>
              </a:avLst>
            </a:prstGeom>
            <a:solidFill>
              <a:srgbClr val="10B981"/>
            </a:solidFill>
            <a:ln w="12700">
              <a:solidFill>
                <a:srgbClr val="10B981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1" name="Text 59"/>
            <p:cNvSpPr/>
            <p:nvPr/>
          </p:nvSpPr>
          <p:spPr>
            <a:xfrm>
              <a:off x="10515600" y="4983480"/>
              <a:ext cx="91440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Tahoma" pitchFamily="34" charset="0"/>
                  <a:ea typeface="Tahoma" pitchFamily="34" charset="-122"/>
                  <a:cs typeface="Tahoma" pitchFamily="34" charset="-120"/>
                </a:rPr>
                <a:t>Excel ↓</a:t>
              </a:r>
              <a:endParaRPr lang="en-US" sz="900" dirty="0"/>
            </a:p>
          </p:txBody>
        </p:sp>
        <p:sp>
          <p:nvSpPr>
            <p:cNvPr id="63" name="Text 61"/>
            <p:cNvSpPr/>
            <p:nvPr/>
          </p:nvSpPr>
          <p:spPr>
            <a:xfrm>
              <a:off x="6903720" y="5394960"/>
              <a:ext cx="365760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0F172A"/>
                  </a:solidFill>
                  <a:latin typeface="Tahoma" pitchFamily="34" charset="0"/>
                  <a:ea typeface="Tahoma" pitchFamily="34" charset="-122"/>
                  <a:cs typeface="Tahoma" pitchFamily="34" charset="-120"/>
                </a:rPr>
                <a:t>📄  OT Summary Report</a:t>
              </a:r>
              <a:endParaRPr lang="en-US" sz="1100" dirty="0"/>
            </a:p>
          </p:txBody>
        </p:sp>
        <p:sp>
          <p:nvSpPr>
            <p:cNvPr id="64" name="Shape 62"/>
            <p:cNvSpPr/>
            <p:nvPr/>
          </p:nvSpPr>
          <p:spPr>
            <a:xfrm>
              <a:off x="10515600" y="5440680"/>
              <a:ext cx="914400" cy="274320"/>
            </a:xfrm>
            <a:prstGeom prst="roundRect">
              <a:avLst>
                <a:gd name="adj" fmla="val 13333"/>
              </a:avLst>
            </a:prstGeom>
            <a:solidFill>
              <a:srgbClr val="10B981"/>
            </a:solidFill>
            <a:ln w="12700">
              <a:solidFill>
                <a:srgbClr val="10B981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5" name="Text 63"/>
            <p:cNvSpPr/>
            <p:nvPr/>
          </p:nvSpPr>
          <p:spPr>
            <a:xfrm>
              <a:off x="10515600" y="5440680"/>
              <a:ext cx="91440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Tahoma" pitchFamily="34" charset="0"/>
                  <a:ea typeface="Tahoma" pitchFamily="34" charset="-122"/>
                  <a:cs typeface="Tahoma" pitchFamily="34" charset="-120"/>
                </a:rPr>
                <a:t>Excel ↓</a:t>
              </a:r>
              <a:endParaRPr lang="en-US" sz="900" dirty="0"/>
            </a:p>
          </p:txBody>
        </p:sp>
      </p:grpSp>
      <p:sp>
        <p:nvSpPr>
          <p:cNvPr id="66" name="Text 64"/>
          <p:cNvSpPr/>
          <p:nvPr/>
        </p:nvSpPr>
        <p:spPr>
          <a:xfrm>
            <a:off x="36576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AMS — Attendance Management System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5 / 6</a:t>
            </a:r>
            <a:endParaRPr lang="en-US" sz="900" dirty="0"/>
          </a:p>
        </p:txBody>
      </p:sp>
      <p:grpSp>
        <p:nvGrpSpPr>
          <p:cNvPr id="70" name="กลุ่ม 69">
            <a:extLst>
              <a:ext uri="{FF2B5EF4-FFF2-40B4-BE49-F238E27FC236}">
                <a16:creationId xmlns:a16="http://schemas.microsoft.com/office/drawing/2014/main" id="{D894FD84-F814-EBE3-6C61-75037DF653F0}"/>
              </a:ext>
            </a:extLst>
          </p:cNvPr>
          <p:cNvGrpSpPr/>
          <p:nvPr/>
        </p:nvGrpSpPr>
        <p:grpSpPr>
          <a:xfrm>
            <a:off x="6675120" y="4060448"/>
            <a:ext cx="1691640" cy="777240"/>
            <a:chOff x="6675120" y="3611880"/>
            <a:chExt cx="1691640" cy="777240"/>
          </a:xfrm>
        </p:grpSpPr>
        <p:sp>
          <p:nvSpPr>
            <p:cNvPr id="33" name="Shape 31"/>
            <p:cNvSpPr/>
            <p:nvPr/>
          </p:nvSpPr>
          <p:spPr>
            <a:xfrm>
              <a:off x="6675120" y="3611880"/>
              <a:ext cx="1691640" cy="777240"/>
            </a:xfrm>
            <a:prstGeom prst="roundRect">
              <a:avLst>
                <a:gd name="adj" fmla="val 9412"/>
              </a:avLst>
            </a:prstGeom>
            <a:solidFill>
              <a:srgbClr val="FFFFFF"/>
            </a:solidFill>
            <a:ln w="19050">
              <a:solidFill>
                <a:srgbClr val="10B981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Text 33"/>
            <p:cNvSpPr/>
            <p:nvPr/>
          </p:nvSpPr>
          <p:spPr>
            <a:xfrm>
              <a:off x="6720840" y="4023360"/>
              <a:ext cx="1600200" cy="29260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64748B"/>
                  </a:solidFill>
                  <a:latin typeface="Tahoma" pitchFamily="34" charset="0"/>
                  <a:ea typeface="Tahoma" pitchFamily="34" charset="-122"/>
                  <a:cs typeface="Tahoma" pitchFamily="34" charset="-120"/>
                </a:rPr>
                <a:t>เสร็จ</a:t>
              </a:r>
              <a:endParaRPr lang="en-US" sz="900" dirty="0"/>
            </a:p>
          </p:txBody>
        </p:sp>
        <p:sp>
          <p:nvSpPr>
            <p:cNvPr id="34" name="Text 32"/>
            <p:cNvSpPr/>
            <p:nvPr/>
          </p:nvSpPr>
          <p:spPr>
            <a:xfrm>
              <a:off x="6720840" y="3721608"/>
              <a:ext cx="1600200" cy="29260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10B981"/>
                  </a:solidFill>
                  <a:latin typeface="Tahoma" pitchFamily="34" charset="0"/>
                  <a:ea typeface="Tahoma" pitchFamily="34" charset="-122"/>
                  <a:cs typeface="Tahoma" pitchFamily="34" charset="-120"/>
                </a:rPr>
                <a:t>อนุมัติ ✓</a:t>
              </a:r>
              <a:endParaRPr lang="en-US" sz="1200" dirty="0"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6">
    <p:bg>
      <p:bgPr>
        <a:solidFill>
          <a:srgbClr val="1E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0" y="-1828800"/>
            <a:ext cx="5486400" cy="5486400"/>
          </a:xfrm>
          <a:prstGeom prst="ellipse">
            <a:avLst/>
          </a:prstGeom>
          <a:solidFill>
            <a:srgbClr val="7C3AED">
              <a:alpha val="25000"/>
            </a:srgbClr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2743200" y="3657600"/>
            <a:ext cx="5486400" cy="5486400"/>
          </a:xfrm>
          <a:prstGeom prst="ellipse">
            <a:avLst/>
          </a:prstGeom>
          <a:solidFill>
            <a:srgbClr val="4F46E5">
              <a:alpha val="25000"/>
            </a:srgbClr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54864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ทำไมต้อง AMS?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10972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ฟีเจอร์เด่นที่ทำให้ระบบนี้ใช้งานได้จริงในองค์กร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1920240"/>
            <a:ext cx="3657600" cy="1508760"/>
          </a:xfrm>
          <a:prstGeom prst="roundRect">
            <a:avLst>
              <a:gd name="adj" fmla="val 6061"/>
            </a:avLst>
          </a:prstGeom>
          <a:solidFill>
            <a:srgbClr val="FFFFFF">
              <a:alpha val="8000"/>
            </a:srgbClr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02920" y="1920240"/>
            <a:ext cx="73152" cy="150876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777240" y="2240280"/>
            <a:ext cx="502920" cy="50292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77240" y="22402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1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🇹🇭</a:t>
            </a:r>
            <a:endParaRPr lang="en-US" sz="1210" dirty="0"/>
          </a:p>
        </p:txBody>
      </p:sp>
      <p:sp>
        <p:nvSpPr>
          <p:cNvPr id="10" name="Text 8"/>
          <p:cNvSpPr/>
          <p:nvPr/>
        </p:nvSpPr>
        <p:spPr>
          <a:xfrm>
            <a:off x="1417320" y="2176272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พ.ศ. ทั้งระบบ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417320" y="2514600"/>
            <a:ext cx="2606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วันที่ทุกหน้าใช้ปฏิทินไทย ผู้ใช้คุ้นเคย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389120" y="1920240"/>
            <a:ext cx="3657600" cy="1508760"/>
          </a:xfrm>
          <a:prstGeom prst="roundRect">
            <a:avLst>
              <a:gd name="adj" fmla="val 6061"/>
            </a:avLst>
          </a:prstGeom>
          <a:solidFill>
            <a:srgbClr val="FFFFFF">
              <a:alpha val="8000"/>
            </a:srgbClr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389120" y="1920240"/>
            <a:ext cx="73152" cy="15087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663440" y="2240280"/>
            <a:ext cx="502920" cy="50292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663440" y="22402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1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📧</a:t>
            </a:r>
            <a:endParaRPr lang="en-US" sz="1210" dirty="0"/>
          </a:p>
        </p:txBody>
      </p:sp>
      <p:sp>
        <p:nvSpPr>
          <p:cNvPr id="16" name="Text 14"/>
          <p:cNvSpPr/>
          <p:nvPr/>
        </p:nvSpPr>
        <p:spPr>
          <a:xfrm>
            <a:off x="5303520" y="2176272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Email ครบทุกขั้นตอน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303520" y="2514600"/>
            <a:ext cx="2606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หัวเมลสีตามสถานะ + ลิงก์เข้าระบบ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275320" y="1920240"/>
            <a:ext cx="3657600" cy="1508760"/>
          </a:xfrm>
          <a:prstGeom prst="roundRect">
            <a:avLst>
              <a:gd name="adj" fmla="val 6061"/>
            </a:avLst>
          </a:prstGeom>
          <a:solidFill>
            <a:srgbClr val="FFFFFF">
              <a:alpha val="8000"/>
            </a:srgbClr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8275320" y="1920240"/>
            <a:ext cx="73152" cy="15087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8549640" y="2240280"/>
            <a:ext cx="502920" cy="5029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8549640" y="22402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1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🔐</a:t>
            </a:r>
            <a:endParaRPr lang="en-US" sz="1210" dirty="0"/>
          </a:p>
        </p:txBody>
      </p:sp>
      <p:sp>
        <p:nvSpPr>
          <p:cNvPr id="22" name="Text 20"/>
          <p:cNvSpPr/>
          <p:nvPr/>
        </p:nvSpPr>
        <p:spPr>
          <a:xfrm>
            <a:off x="9189720" y="2176272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5 ระดับสิทธิ์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189720" y="2514600"/>
            <a:ext cx="2606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หัวหน้า · ผจก.แผนก · ผจก.โรงงาน · HR · Admin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02920" y="3657600"/>
            <a:ext cx="3657600" cy="1508760"/>
          </a:xfrm>
          <a:prstGeom prst="roundRect">
            <a:avLst>
              <a:gd name="adj" fmla="val 6061"/>
            </a:avLst>
          </a:prstGeom>
          <a:solidFill>
            <a:srgbClr val="FFFFFF">
              <a:alpha val="8000"/>
            </a:srgbClr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502920" y="3657600"/>
            <a:ext cx="73152" cy="150876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777240" y="3977640"/>
            <a:ext cx="502920" cy="50292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777240" y="39776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1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⚡</a:t>
            </a:r>
            <a:endParaRPr lang="en-US" sz="1210" dirty="0"/>
          </a:p>
        </p:txBody>
      </p:sp>
      <p:sp>
        <p:nvSpPr>
          <p:cNvPr id="28" name="Text 26"/>
          <p:cNvSpPr/>
          <p:nvPr/>
        </p:nvSpPr>
        <p:spPr>
          <a:xfrm>
            <a:off x="1417320" y="3913632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Auto Carry-over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417320" y="4251960"/>
            <a:ext cx="2606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วันลาเหลือ → โอนปีหน้าอัตโนมัติ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389120" y="3657600"/>
            <a:ext cx="3657600" cy="1508760"/>
          </a:xfrm>
          <a:prstGeom prst="roundRect">
            <a:avLst>
              <a:gd name="adj" fmla="val 6061"/>
            </a:avLst>
          </a:prstGeom>
          <a:solidFill>
            <a:srgbClr val="FFFFFF">
              <a:alpha val="8000"/>
            </a:srgbClr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4389120" y="3657600"/>
            <a:ext cx="73152" cy="15087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4663440" y="3977640"/>
            <a:ext cx="502920" cy="50292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663440" y="39776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1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📅</a:t>
            </a:r>
            <a:endParaRPr lang="en-US" sz="1210" dirty="0"/>
          </a:p>
        </p:txBody>
      </p:sp>
      <p:sp>
        <p:nvSpPr>
          <p:cNvPr id="34" name="Text 32"/>
          <p:cNvSpPr/>
          <p:nvPr/>
        </p:nvSpPr>
        <p:spPr>
          <a:xfrm>
            <a:off x="5303520" y="3913632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Cut-off Time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5303520" y="4251960"/>
            <a:ext cx="2606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ตั้งเวลาตัดยอดสร้าง/อนุมัติได้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8275320" y="3657600"/>
            <a:ext cx="3657600" cy="1508760"/>
          </a:xfrm>
          <a:prstGeom prst="roundRect">
            <a:avLst>
              <a:gd name="adj" fmla="val 6061"/>
            </a:avLst>
          </a:prstGeom>
          <a:solidFill>
            <a:srgbClr val="FFFFFF">
              <a:alpha val="8000"/>
            </a:srgbClr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8275320" y="3657600"/>
            <a:ext cx="73152" cy="15087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8549640" y="3977640"/>
            <a:ext cx="502920" cy="50292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8549640" y="39776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1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📊</a:t>
            </a:r>
            <a:endParaRPr lang="en-US" sz="1210" dirty="0"/>
          </a:p>
        </p:txBody>
      </p:sp>
      <p:sp>
        <p:nvSpPr>
          <p:cNvPr id="40" name="Text 38"/>
          <p:cNvSpPr/>
          <p:nvPr/>
        </p:nvSpPr>
        <p:spPr>
          <a:xfrm>
            <a:off x="9189720" y="3913632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Reports + Excel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9189720" y="4251960"/>
            <a:ext cx="2606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กรองแล้วดาวน์โหลดได้ทันที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40080" y="59893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6B6D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พร้อมใช้งานวันนี้ — รองรับ 460+ พนักงาน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640080" y="64465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ขอบคุณครับ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ธีมของ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888</Words>
  <Application>Microsoft Office PowerPoint</Application>
  <PresentationFormat>แบบจอกว้าง</PresentationFormat>
  <Paragraphs>202</Paragraphs>
  <Slides>6</Slides>
  <Notes>6</Notes>
  <HiddenSlides>1</HiddenSlides>
  <MMClips>0</MMClips>
  <ScaleCrop>false</ScaleCrop>
  <HeadingPairs>
    <vt:vector size="6" baseType="variant">
      <vt:variant>
        <vt:lpstr>ฟอนต์ที่ถูกใช้</vt:lpstr>
      </vt:variant>
      <vt:variant>
        <vt:i4>2</vt:i4>
      </vt:variant>
      <vt:variant>
        <vt:lpstr>ธีม</vt:lpstr>
      </vt:variant>
      <vt:variant>
        <vt:i4>1</vt:i4>
      </vt:variant>
      <vt:variant>
        <vt:lpstr>ชื่อเรื่องสไลด์</vt:lpstr>
      </vt:variant>
      <vt:variant>
        <vt:i4>6</vt:i4>
      </vt:variant>
    </vt:vector>
  </HeadingPairs>
  <TitlesOfParts>
    <vt:vector size="9" baseType="lpstr">
      <vt:lpstr>Arial</vt:lpstr>
      <vt:lpstr>Tahoma</vt:lpstr>
      <vt:lpstr>Office Theme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</vt:vector>
  </TitlesOfParts>
  <Company>AMS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AMS — Attendance Management System</dc:title>
  <dc:subject>PptxGenJS Presentation</dc:subject>
  <dc:creator>AMS Team</dc:creator>
  <cp:lastModifiedBy>Theerawat Siriboon</cp:lastModifiedBy>
  <cp:revision>5</cp:revision>
  <dcterms:created xsi:type="dcterms:W3CDTF">2026-06-05T04:42:16Z</dcterms:created>
  <dcterms:modified xsi:type="dcterms:W3CDTF">2026-06-05T05:12:29Z</dcterms:modified>
</cp:coreProperties>
</file>