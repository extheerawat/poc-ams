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61" r:id="rId3"/>
    <p:sldId id="260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82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6380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80160"/>
            <a:ext cx="54864" cy="164592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PROPOSAL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kern="0" spc="-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Attendance Management System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ระบบบริหารจัดการการลาและ OT สำหรับองค์กรขนาดกลาง-ใหญ่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937760"/>
            <a:ext cx="5486400" cy="18288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SYSTEM OVERVIEW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 Map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modules ที่ทำงานสัมพันธ์กัน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361188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3611880" cy="54864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199339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Management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3317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ระบบจัดการการลา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6974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■"/>
            </a:pPr>
            <a:r>
              <a:rPr lang="en-US" sz="1050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ลาครึ่งวัน/เต็มวัน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■"/>
            </a:pPr>
            <a:r>
              <a:rPr lang="en-US" sz="1050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Carry-over อัตโนมัติ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■"/>
            </a:pPr>
            <a:r>
              <a:rPr lang="en-US" sz="1050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Reject Reasons Master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07408" y="1828800"/>
            <a:ext cx="361188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407408" y="1828800"/>
            <a:ext cx="361188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36008" y="199339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Management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36008" y="23317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ระบบจัดการ OT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81728" y="26974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■"/>
            </a:pPr>
            <a:r>
              <a:rPr lang="en-US" sz="1050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Day/Night Shift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■"/>
            </a:pPr>
            <a:r>
              <a:rPr lang="en-US" sz="1050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Per-emp Approve/Reject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■"/>
            </a:pPr>
            <a:r>
              <a:rPr lang="en-US" sz="1050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Cross-dept FYI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66176" y="1828800"/>
            <a:ext cx="361188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66176" y="1828800"/>
            <a:ext cx="3611880" cy="54864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494776" y="199339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Approval Workflow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94776" y="23317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ขั้นตอนอนุมัติหลายระดับ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40496" y="26974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■"/>
            </a:pPr>
            <a:r>
              <a:rPr lang="en-US" sz="1050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Office 2-step / ผลิต 3-step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■"/>
            </a:pPr>
            <a:r>
              <a:rPr lang="en-US" sz="1050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Bulk + รายคน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■"/>
            </a:pPr>
            <a:r>
              <a:rPr lang="en-US" sz="1050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 fast-track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858768"/>
            <a:ext cx="361188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" y="3858768"/>
            <a:ext cx="3611880" cy="54864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40233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Master Data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436168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ข้อมูลพื้นฐาน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" y="472744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■"/>
            </a:pPr>
            <a:r>
              <a:rPr lang="en-US" sz="1050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 · แผนก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■"/>
            </a:pPr>
            <a:r>
              <a:rPr lang="en-US" sz="1050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ประเภทการลา + Code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■"/>
            </a:pPr>
            <a:r>
              <a:rPr lang="en-US" sz="1050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สายรถ default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407408" y="3858768"/>
            <a:ext cx="361188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407408" y="3858768"/>
            <a:ext cx="361188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36008" y="40233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Reports &amp; Excel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636008" y="436168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รายงานและส่งออก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81728" y="472744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■"/>
            </a:pPr>
            <a:r>
              <a:rPr lang="en-US" sz="1050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Monthly Report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■"/>
            </a:pPr>
            <a:r>
              <a:rPr lang="en-US" sz="1050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Summary + สรุปสายรถ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■"/>
            </a:pPr>
            <a:r>
              <a:rPr lang="en-US" sz="1050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Filter ทุกมิติ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266176" y="3858768"/>
            <a:ext cx="361188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266176" y="3858768"/>
            <a:ext cx="3611880" cy="54864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494776" y="40233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Notifications &amp; Audit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494776" y="436168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แจ้งเตือน + บันทึก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540496" y="472744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■"/>
            </a:pPr>
            <a:r>
              <a:rPr lang="en-US" sz="1050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Email ทุก step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■"/>
            </a:pPr>
            <a:r>
              <a:rPr lang="en-US" sz="1050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FYI ข้ามแผนก</a:t>
            </a:r>
            <a:endParaRPr lang="en-US" sz="1050" dirty="0"/>
          </a:p>
          <a:p>
            <a:pPr marL="342900" indent="-342900">
              <a:lnSpc>
                <a:spcPts val="1600"/>
              </a:lnSpc>
              <a:buSzPct val="100000"/>
              <a:buChar char="■"/>
            </a:pPr>
            <a:r>
              <a:rPr lang="en-US" sz="1050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Audit Log ครบ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System Overview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SYSTEM OVERVIEW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 Roles &amp; Permissions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ระดับสิทธิ์ × สิทธิ์การเข้าถึงแต่ละโมดูล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11091672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18288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สร้างใบลา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2336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อนุมัติใบลา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0" y="18288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สร้างใบ OT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6656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 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0" y="1828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รายงาน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26880" y="18288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Master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332720" y="18288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Settings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286000"/>
            <a:ext cx="110916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2359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Supervisor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26700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หัวหน้าทีม / Line Manager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0" y="228600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023360" y="228600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0" y="228600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66560" y="228600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0" y="228600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26880" y="22860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332720" y="22860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8640" y="3063240"/>
            <a:ext cx="11091672" cy="77724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5800" y="31363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Dept Manager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" y="34472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ผู้จัดการแผนก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743200" y="306324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114800" y="329184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114800" y="3291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Step 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0" y="306324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858000" y="329184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858000" y="3291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Step 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321040" y="3291840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321040" y="3291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เฉพาะที่ดูแล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326880" y="306324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332720" y="306324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48640" y="3840480"/>
            <a:ext cx="110916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85800" y="39136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Factory Manager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85800" y="42245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ผู้จัดการโรงงาน (Production)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743200" y="384048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114800" y="406908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114800" y="4069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Step 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486400" y="384048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858000" y="406908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858000" y="4069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Step 2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321040" y="4069080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321040" y="4069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เฉพาะที่ดูแล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326880" y="384048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332720" y="384048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48640" y="4617720"/>
            <a:ext cx="11091672" cy="77724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85800" y="46908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 Admin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85800" y="50017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ฝ่ายบุคคล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743200" y="461772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114800" y="484632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114800" y="4846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Fast-track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486400" y="461772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858000" y="484632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858000" y="4846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Fast-track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321040" y="4846320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8321040" y="4846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ทั้งหมด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9326880" y="461772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0332720" y="461772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548640" y="5394960"/>
            <a:ext cx="110916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85800" y="54681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System Admin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85800" y="57790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ผู้ดูแลระบบ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2743200" y="539496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4114800" y="562356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114800" y="56235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Fast-track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486400" y="539496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858000" y="562356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858000" y="56235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Fast-track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8321040" y="5623560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8321040" y="5623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ทั้งหมด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9326880" y="539496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10332720" y="539496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548640" y="6172200"/>
            <a:ext cx="11091672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System Overview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MODULE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Module — Use Cases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ผู้เกี่ยวข้องและการใช้งานหลัก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Module</a:t>
            </a:r>
            <a:endParaRPr lang="en-US" sz="900" dirty="0"/>
          </a:p>
        </p:txBody>
      </p:sp>
      <p:pic>
        <p:nvPicPr>
          <p:cNvPr id="67" name="รูปภาพ 66">
            <a:extLst>
              <a:ext uri="{FF2B5EF4-FFF2-40B4-BE49-F238E27FC236}">
                <a16:creationId xmlns:a16="http://schemas.microsoft.com/office/drawing/2014/main" id="{C2549B50-C02E-7CA7-1863-41275942F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089" y="457200"/>
            <a:ext cx="2429037" cy="60990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MODULE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Workflow — Office (2-step)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ขั้นตอนการอนุมัติใบลาฝ่ายสำนักงาน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641080" y="891540"/>
            <a:ext cx="3246120" cy="1188720"/>
          </a:xfrm>
          <a:prstGeom prst="roundRect">
            <a:avLst>
              <a:gd name="adj" fmla="val 3846"/>
            </a:avLst>
          </a:prstGeom>
          <a:solidFill>
            <a:srgbClr val="EEF2F7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778240" y="9372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Bulk Approve / Reject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778240" y="12573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ผจก.เลือก checkbox หลายใบ → กดอนุมัติ/ปฏิเสธทีเดียว — ลดการคลิก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" y="4709160"/>
            <a:ext cx="11018520" cy="1325880"/>
          </a:xfrm>
          <a:prstGeom prst="roundRect">
            <a:avLst>
              <a:gd name="adj" fmla="val 3448"/>
            </a:avLst>
          </a:prstGeom>
          <a:solidFill>
            <a:srgbClr val="FFF9E6"/>
          </a:solidFill>
          <a:ln w="952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7724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Cancel ใบลา (ก่อนอนุมัติ)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77240" y="51206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ผู้สร้าง / Admin สามารถยกเลิกใบลาที่ยังไม่ได้รับการอนุมัติได้ทันที — ระบบเปลี่ยนสถานะเป็น CANCELLED + ไม่หักวันลา + ส่ง Email แจ้ง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" y="6172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2400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⚠  Cut-off Time: สร้าง 11:00 / อนุมัติ 13:00 (ปรับได้ใน Settings)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Module</a:t>
            </a:r>
            <a:endParaRPr lang="en-US" sz="900" dirty="0"/>
          </a:p>
        </p:txBody>
      </p:sp>
      <p:pic>
        <p:nvPicPr>
          <p:cNvPr id="45" name="รูปภาพ 44">
            <a:extLst>
              <a:ext uri="{FF2B5EF4-FFF2-40B4-BE49-F238E27FC236}">
                <a16:creationId xmlns:a16="http://schemas.microsoft.com/office/drawing/2014/main" id="{D569917A-26F9-8552-0728-891BC9D2A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936199"/>
            <a:ext cx="11887200" cy="2875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MODULE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Workflow — Production (3-step) + Cancel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ขั้นตอนการอนุมัติฝ่ายผลิต + กระบวนการยกเลิกหลังอนุมัติ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355080" y="4434840"/>
            <a:ext cx="0" cy="502920"/>
          </a:xfrm>
          <a:prstGeom prst="line">
            <a:avLst/>
          </a:prstGeom>
          <a:noFill/>
          <a:ln w="12700">
            <a:solidFill>
              <a:srgbClr val="D1D5D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40080" y="5303520"/>
            <a:ext cx="5349240" cy="1051560"/>
          </a:xfrm>
          <a:prstGeom prst="roundRect">
            <a:avLst>
              <a:gd name="adj" fmla="val 4348"/>
            </a:avLst>
          </a:prstGeom>
          <a:solidFill>
            <a:srgbClr val="ECFDF5"/>
          </a:solidFill>
          <a:ln w="9525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77240" y="5349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 HR Approve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77240" y="562356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สถานะใบลา → CANCELLED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คืนวันลาเข้า balance ของพนักงาน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Email แจ้งผู้ขอยกเลิก + CC HR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263640" y="5303520"/>
            <a:ext cx="5349240" cy="1051560"/>
          </a:xfrm>
          <a:prstGeom prst="roundRect">
            <a:avLst>
              <a:gd name="adj" fmla="val 4348"/>
            </a:avLst>
          </a:prstGeom>
          <a:solidFill>
            <a:srgbClr val="FEF2F2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400800" y="5349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 HR Reject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400800" y="562356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สถานะใบลายังคง APPROVED (ไม่ยกเลิก)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แสดงเหตุผล HR ในประวัติ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Email แจ้งผู้ขอยกเลิก พร้อม comment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Module</a:t>
            </a:r>
            <a:endParaRPr lang="en-US" sz="900" dirty="0"/>
          </a:p>
        </p:txBody>
      </p:sp>
      <p:pic>
        <p:nvPicPr>
          <p:cNvPr id="60" name="รูปภาพ 59">
            <a:extLst>
              <a:ext uri="{FF2B5EF4-FFF2-40B4-BE49-F238E27FC236}">
                <a16:creationId xmlns:a16="http://schemas.microsoft.com/office/drawing/2014/main" id="{5BB660CC-DBBF-254B-0921-72FB7B0C1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1827" y="1567403"/>
            <a:ext cx="5962650" cy="36903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MODULE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— Key Features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ความสามารถหลักของโมดูลการลา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320040" cy="320040"/>
          </a:xfrm>
          <a:prstGeom prst="ellipse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1783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ลาครึ่งวัน เช้า/บ่าย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0848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ใช้ได้ทุกประเภทการลา ไม่ต้องระบุเวลา ผสมเต็มวัน + ครึ่งวันในใบเดียว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542032"/>
            <a:ext cx="320040" cy="320040"/>
          </a:xfrm>
          <a:prstGeom prst="ellipse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5420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24963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เลือกหลายวันในใบเดียว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79806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พนักงานคนเดียวลาวันที่ 1, 4, 7 ในใบลาเดียว — ระบบนับวันให้ถูก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255264"/>
            <a:ext cx="320040" cy="320040"/>
          </a:xfrm>
          <a:prstGeom prst="ellipse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2552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320954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หัวหน้าเห็นสิทธิ์ลูกน้อง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351129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ดูยอดวันลาคงเหลือของลูกน้องทั้งทีมได้ทันที ก่อนสร้างใบลา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968496"/>
            <a:ext cx="320040" cy="320040"/>
          </a:xfrm>
          <a:prstGeom prst="ellipse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39684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39227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เหตุผลปฏิเสธ — Master CRUD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2245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 กำหนดเหตุผล (LRR001, LRR002, ...) + Bulk Approve/Reject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4681728"/>
            <a:ext cx="320040" cy="320040"/>
          </a:xfrm>
          <a:prstGeom prst="ellipse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4681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46360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Pro-rate + Carry-over อัตโนมัติ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4937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คำนวณวันลาตามอายุงาน + โอนวันเหลือสู่ปีถัดไป (เพดาน 5 วัน)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5394960"/>
            <a:ext cx="320040" cy="320040"/>
          </a:xfrm>
          <a:prstGeom prst="ellipse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" y="5394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7280" y="5349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รหัสประเภทการลา (Code)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7280" y="56509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แสดงทุกที่ List/Detail/Email/Excel เช่น VACATION-ลาพักร้อน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75120" y="1783080"/>
            <a:ext cx="498348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675120" y="1783080"/>
            <a:ext cx="49834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766560" y="187452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912864" y="187452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059168" y="187452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315200" y="1828800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ams.local / leave / create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8000" y="224028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สร้างใบลา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858000" y="26517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 *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858000" y="2834640"/>
            <a:ext cx="2263140" cy="292608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949440" y="28346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A-092 — ศรีไพบูลย์ เ.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281160" y="26517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ประเภทการลา *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9281160" y="2834640"/>
            <a:ext cx="2194560" cy="292608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372600" y="283464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VACATION-ลาพักร้อน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58000" y="32461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เลือกวันลา *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858000" y="3429000"/>
            <a:ext cx="46177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949440" y="3429000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คลิกเพื่อเลือกวัน — เพิ่มอัตโนมัติ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858000" y="38404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เลือกแล้ว 3 รายการ (2.5 วัน)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858000" y="4069080"/>
            <a:ext cx="461772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949440" y="4114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📅 11 ก.ค. 2569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458200" y="4151376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2C5282"/>
          </a:solidFill>
          <a:ln w="635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458200" y="415137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เต็มวัน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9134856" y="4151376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9134856" y="415137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ครึ่งเช้า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9811512" y="4151376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9811512" y="415137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ครึ่งบ่าย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949440" y="4434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📅 15 ก.ค. 2569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458200" y="4471416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2C5282"/>
          </a:solidFill>
          <a:ln w="635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8458200" y="447141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เต็มวัน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9134856" y="4471416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9134856" y="447141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ครึ่งเช้า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9811512" y="4471416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9811512" y="447141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ครึ่งบ่าย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949440" y="4754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📅 16 ก.ค. 2569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458200" y="4791456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8458200" y="479145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เต็มวัน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9134856" y="4791456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9134856" y="479145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ครึ่งเช้า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9811512" y="4791456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1E40AF"/>
          </a:solidFill>
          <a:ln w="63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9811512" y="479145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ครึ่งบ่าย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6858000" y="5303520"/>
            <a:ext cx="4617720" cy="411480"/>
          </a:xfrm>
          <a:prstGeom prst="roundRect">
            <a:avLst>
              <a:gd name="adj" fmla="val 8889"/>
            </a:avLst>
          </a:prstGeom>
          <a:solidFill>
            <a:srgbClr val="F0F9FF"/>
          </a:solidFill>
          <a:ln w="63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6995160" y="53035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รวมวันลา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0469880" y="53035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2.5 วัน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9646920" y="5806440"/>
            <a:ext cx="1828800" cy="365760"/>
          </a:xfrm>
          <a:prstGeom prst="roundRect">
            <a:avLst>
              <a:gd name="adj" fmla="val 10000"/>
            </a:avLst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9646920" y="5806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บันทึกและส่งอนุมัติ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Module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MODULE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— Reports &amp; Master Data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รายงาน + ข้อมูลพื้นฐานที่ HR จัดการเอง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562356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355080" y="1783080"/>
            <a:ext cx="5303520" cy="54864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537960" y="1920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Master Data (ที่เกี่ยวกับการลา)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37960" y="2240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 Admin จัดการรายการได้เองทั้งหมด — ไม่ต้องรอ Developer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37960" y="2697480"/>
            <a:ext cx="54864" cy="54864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720840" y="26974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Type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20840" y="29718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Code · ชื่อ · จำนวนวันต่อปี · มี/ไม่มี Pro-rate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537960" y="3383280"/>
            <a:ext cx="54864" cy="54864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720840" y="33832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Reject Reason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20840" y="36576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Auto-gen Code (LRR001...) · ข้อความ · Active/Inactive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537960" y="4069080"/>
            <a:ext cx="54864" cy="54864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720840" y="4069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Carry Over Settings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20840" y="4343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Max วันที่ยกไปปีถัดไปต่อประเภท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537960" y="4754880"/>
            <a:ext cx="54864" cy="54864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720840" y="47548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Cut-off Time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20840" y="5029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เวลาตัดยอดสร้าง (11:00) / อนุมัติ (13:00)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537960" y="5440680"/>
            <a:ext cx="54864" cy="54864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720840" y="5440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Holiday Calendar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720840" y="57150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วันหยุดประจำปี — ไม่นับเป็นวันลา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Module</a:t>
            </a:r>
            <a:endParaRPr lang="en-US" sz="900" dirty="0"/>
          </a:p>
        </p:txBody>
      </p:sp>
      <p:pic>
        <p:nvPicPr>
          <p:cNvPr id="57" name="รูปภาพ 56">
            <a:extLst>
              <a:ext uri="{FF2B5EF4-FFF2-40B4-BE49-F238E27FC236}">
                <a16:creationId xmlns:a16="http://schemas.microsoft.com/office/drawing/2014/main" id="{54EE03AF-0C0A-C3EE-54E7-4C6EC63BC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01" y="2075688"/>
            <a:ext cx="5713899" cy="31606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MODULE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Module — Use Cases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ผู้เกี่ยวข้องและการใช้งานหลัก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Module</a:t>
            </a:r>
            <a:endParaRPr lang="en-US" sz="900" dirty="0"/>
          </a:p>
        </p:txBody>
      </p:sp>
      <p:pic>
        <p:nvPicPr>
          <p:cNvPr id="69" name="รูปภาพ 68">
            <a:extLst>
              <a:ext uri="{FF2B5EF4-FFF2-40B4-BE49-F238E27FC236}">
                <a16:creationId xmlns:a16="http://schemas.microsoft.com/office/drawing/2014/main" id="{0F415480-3417-04CE-CF5D-BA3DD638CA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733"/>
          <a:stretch>
            <a:fillRect/>
          </a:stretch>
        </p:blipFill>
        <p:spPr>
          <a:xfrm>
            <a:off x="4822112" y="661546"/>
            <a:ext cx="3787050" cy="59819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MODULE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Workflow — Per-employee Approve/Reject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ผู้อนุมัติเลือกได้ว่าจะ approve/reject ใครภายในใบเดียว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Standard Flow (Office 2-step / Production 3-step)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26771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6334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+ เลือกคน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7744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697480" y="2194560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0" y="226771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ผจก.แผนก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26334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 Step 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3484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754880" y="2194560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00600" y="226771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ผจก.โรงงาน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26334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Step 2 (ผลิต)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9224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812280" y="2194560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0" y="226771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APPROVED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26334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พร้อมทำ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869680" y="2194560"/>
            <a:ext cx="2788920" cy="731520"/>
          </a:xfrm>
          <a:prstGeom prst="roundRect">
            <a:avLst>
              <a:gd name="adj" fmla="val 6250"/>
            </a:avLst>
          </a:prstGeom>
          <a:solidFill>
            <a:srgbClr val="FEF3C7"/>
          </a:solidFill>
          <a:ln w="952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006840" y="22402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 Fast-track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006840" y="24871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ข้ามทุก step → APPROVED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291840"/>
            <a:ext cx="11091672" cy="36576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" y="34747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Per-employee Approve/Reject Logic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3794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ในใบ OT 1 ใบที่มีหลายคน ผู้อนุมัติเปิด dialog แล้วเลือก (ติ๊ก) รายชื่อ — ระบบประมวลตามปุ่มที่กด: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4206240"/>
            <a:ext cx="5440680" cy="2103120"/>
          </a:xfrm>
          <a:prstGeom prst="roundRect">
            <a:avLst>
              <a:gd name="adj" fmla="val 2174"/>
            </a:avLst>
          </a:prstGeom>
          <a:solidFill>
            <a:srgbClr val="ECFDF5"/>
          </a:solidFill>
          <a:ln w="9525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22960" y="4297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เมื่อกด ✓ อนุมัติ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" y="466344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ติ๊ก</a:t>
            </a:r>
            <a:r>
              <a:rPr lang="en-US" sz="11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→ APPROVED  (Office จบ / ผลิต รอ Step ถัดไป)
</a:t>
            </a:r>
            <a:r>
              <a:rPr lang="en-US" sz="11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ไม่ติ๊ก</a:t>
            </a:r>
            <a:r>
              <a:rPr lang="en-US" sz="11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→ </a:t>
            </a:r>
            <a:r>
              <a:rPr lang="en-US" sz="11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ลบออกจากใบ OT</a:t>
            </a:r>
            <a:r>
              <a:rPr lang="en-US" sz="11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(หายไป ไม่นับ ไม่แสดง)
</a:t>
            </a:r>
            <a:r>
              <a:rPr lang="en-US" sz="10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เช่น ใบ OT มี 5 คน → ติ๊ก 3 → 3 คน APPROVED, อีก 2 คนถูกลบ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4206240"/>
            <a:ext cx="5440680" cy="2103120"/>
          </a:xfrm>
          <a:prstGeom prst="roundRect">
            <a:avLst>
              <a:gd name="adj" fmla="val 2174"/>
            </a:avLst>
          </a:prstGeom>
          <a:solidFill>
            <a:srgbClr val="FEF2F2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00800" y="4297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1B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เมื่อกด ✗ ปฏิเสธ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0" y="466344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ติ๊ก</a:t>
            </a:r>
            <a:r>
              <a:rPr lang="en-US" sz="11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→ REJECTED  (มี audit trail + แสดงเหตุผล)
</a:t>
            </a:r>
            <a:r>
              <a:rPr lang="en-US" sz="11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ไม่ติ๊ก</a:t>
            </a:r>
            <a:r>
              <a:rPr lang="en-US" sz="11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→ </a:t>
            </a:r>
            <a:r>
              <a:rPr lang="en-US" sz="11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ผ่าน (APPROVED)</a:t>
            </a:r>
            <a:r>
              <a:rPr lang="en-US" sz="11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ทำ OT ต่อตามปกติ
</a:t>
            </a:r>
            <a:r>
              <a:rPr lang="en-US" sz="10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เช่น ใบ OT มี 5 คน → ติ๊ก 1 → 1 คน REJECTED, อีก 4 คน APPROVED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Module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MODULE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— Special Flows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Cross-dept Request + Cancel / Memo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 Cross-department OT Request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หัวหน้ายืมพนักงานต่างแผนกมาทำ OT ได้ — หัวหน้าแผนกต้นสังกัดเป็น FYI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485276"/>
            <a:ext cx="17830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255842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 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92418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แผนกตน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17830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359359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เลือกพนักงาน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395935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แผนก A + แผนก 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6888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2880360" y="3520440"/>
            <a:ext cx="17830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926080" y="359359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สร้างใบ OT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26080" y="395935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ส่งอนุมัติ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76472" y="4251960"/>
            <a:ext cx="0" cy="365760"/>
          </a:xfrm>
          <a:prstGeom prst="line">
            <a:avLst/>
          </a:prstGeom>
          <a:noFill/>
          <a:ln w="12700">
            <a:solidFill>
              <a:srgbClr val="D1D5D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0080" y="4663440"/>
            <a:ext cx="26060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" y="473659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ผจก.แผนก 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51023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 (Standard)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29000" y="4663440"/>
            <a:ext cx="26060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74720" y="473659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ผจก.แผนก 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51023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FYI Email (ไม่ต้อง approve)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5577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554480" y="55778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 OT เดินตาม workflow ปกติ (ผจก.A ตัดสิน) + ผจก.B รับทราบว่าลูกน้องไปทำ OT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1783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 Cancel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0" y="2103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ยกเลิกใบ OT </a:t>
            </a:r>
            <a:r>
              <a:rPr lang="en-US" sz="1050" i="1" dirty="0" err="1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หลังอนุมัติ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0" y="2606040"/>
            <a:ext cx="5257800" cy="1508760"/>
          </a:xfrm>
          <a:prstGeom prst="roundRect">
            <a:avLst>
              <a:gd name="adj" fmla="val 3030"/>
            </a:avLst>
          </a:prstGeom>
          <a:solidFill>
            <a:srgbClr val="FFF9E6"/>
          </a:solidFill>
          <a:ln w="952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583680" y="2651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Cancel หลังได้รับอนุมัติ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83680" y="29718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เจ้าของ → ขอยกเลิก (พร้อมเหตุผล) → HR review → ถ้าอนุมัติ ใบ OT เป็น CANCELLED + พนักงานในใบไม่ได้เงิน OT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Module</a:t>
            </a:r>
            <a:endParaRPr lang="en-US" sz="900" dirty="0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ED29F6D1-E170-2442-F5B9-A0271F2729C0}"/>
              </a:ext>
            </a:extLst>
          </p:cNvPr>
          <p:cNvSpPr/>
          <p:nvPr/>
        </p:nvSpPr>
        <p:spPr>
          <a:xfrm rot="5400000">
            <a:off x="2889505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200" dirty="0"/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282E4991-B831-5B7A-E8A0-0FBCE1360CAE}"/>
              </a:ext>
            </a:extLst>
          </p:cNvPr>
          <p:cNvSpPr/>
          <p:nvPr/>
        </p:nvSpPr>
        <p:spPr>
          <a:xfrm rot="5400000">
            <a:off x="1462177" y="3182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MODULE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— Key Features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ความสามารถหลักของโมดูล OT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320040" cy="320040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1783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Day / Night Shift + Preset เวลา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0848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เลือกกะแล้วได้ preset เวลา 6 ช่วงมาตรฐาน — คลิกครั้งเดียวจบ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542032"/>
            <a:ext cx="320040" cy="320040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5420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24963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สายรถผูก default ต่อพนักงาน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79806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ติ๊กพนักงาน → สายรถ auto-fill — Override รายคนได้ถ้ามีเปลี่ยนแปลง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255264"/>
            <a:ext cx="320040" cy="320040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2552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320954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ลักษณะงาน + Remark รายคน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351129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แต่ละคนกรอกงานต่างกันได้ + Remark กรณีอยู่ต่อ/เลิกก่อนเวลา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968496"/>
            <a:ext cx="320040" cy="320040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39684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39227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Per-emp Approve/Reject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2245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ผู้อนุมัติเลือกได้รายคน — Approve→ลบไม่ติ๊ก / Reject→ผ่านไม่ติ๊ก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4681728"/>
            <a:ext cx="320040" cy="320040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4681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46360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Cross-dept + FYI Email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4937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ยืมพนักงานต่างแผนก ส่ง email แจ้งหัวหน้าต้นสังกัด (ไม่ต้องอนุมัติ)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5394960"/>
            <a:ext cx="320040" cy="320040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" y="5394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7280" y="5349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</a:t>
            </a:r>
            <a:r>
              <a:rPr lang="en-US" sz="1200" b="1" dirty="0" err="1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วันหยุด</a:t>
            </a:r>
            <a:r>
              <a:rPr lang="en-US" sz="12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7280" y="56509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รองรับ OT วันหยุ</a:t>
            </a:r>
            <a:r>
              <a:rPr lang="th-TH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75120" y="1783080"/>
            <a:ext cx="498348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675120" y="1783080"/>
            <a:ext cx="49834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766560" y="187452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912864" y="187452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059168" y="187452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315200" y="1828800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ams.local / ot / create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8000" y="224028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OT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858000" y="2651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กะ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858000" y="2834640"/>
            <a:ext cx="2194560" cy="365760"/>
          </a:xfrm>
          <a:prstGeom prst="roundRect">
            <a:avLst>
              <a:gd name="adj" fmla="val 10000"/>
            </a:avLst>
          </a:prstGeom>
          <a:solidFill>
            <a:srgbClr val="FFF7E6"/>
          </a:solidFill>
          <a:ln w="1524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858000" y="2834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Day (กลางวัน)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144000" y="2834640"/>
            <a:ext cx="182880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14400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Night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858000" y="3337560"/>
            <a:ext cx="46177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949440" y="33375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○   07:30 - 16:10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561320" y="333756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8.67 ชม.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58000" y="3703320"/>
            <a:ext cx="46177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949440" y="37033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○   07:30 - 19:30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561320" y="370332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12.00 ชม.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58000" y="4069080"/>
            <a:ext cx="4617720" cy="292608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524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949440" y="40690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●   17:00 - 19:30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561320" y="406908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2.50 ชม.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858000" y="4572000"/>
            <a:ext cx="4617720" cy="41148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949440" y="457200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สายรถของแต่ละคน — 5 พนักงาน (Override ได้รายคน)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858000" y="5074920"/>
            <a:ext cx="4617720" cy="41148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949440" y="507492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ลักษณะงาน + Remark แยกตามคน — ใส่ "อยู่ต่อ 21:00" ได้รายคน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858000" y="5577840"/>
            <a:ext cx="4617720" cy="457200"/>
          </a:xfrm>
          <a:prstGeom prst="roundRect">
            <a:avLst>
              <a:gd name="adj" fmla="val 8000"/>
            </a:avLst>
          </a:prstGeom>
          <a:solidFill>
            <a:srgbClr val="FFF7E6"/>
          </a:solidFill>
          <a:ln w="635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949440" y="557784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 2.50 ชม. × 5 คน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Module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MODULE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— Reports &amp; Bus Route Summary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รายงาน OT + สรุปการใช้สายรถ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Module</a:t>
            </a:r>
            <a:endParaRPr lang="en-US" sz="900" dirty="0"/>
          </a:p>
        </p:txBody>
      </p:sp>
      <p:pic>
        <p:nvPicPr>
          <p:cNvPr id="62" name="รูปภาพ 61">
            <a:extLst>
              <a:ext uri="{FF2B5EF4-FFF2-40B4-BE49-F238E27FC236}">
                <a16:creationId xmlns:a16="http://schemas.microsoft.com/office/drawing/2014/main" id="{6C729518-BD5F-3F48-E5BF-C6F8B4F0D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673" y="1622970"/>
            <a:ext cx="9223938" cy="46927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CROSS-CUTTING FEATURES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Notification &amp; Email Flow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การแจ้งเตือนทุก action — ครอบคลุม CC HR + FYI ข้ามแผนก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Trigger → Recipient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68580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Action / Trigger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2194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49240" y="2194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514600"/>
            <a:ext cx="685800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514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สร้างใบลา / OT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83280" y="25146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ผจก.แผนก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49240" y="25146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2880360"/>
            <a:ext cx="6858000" cy="365760"/>
          </a:xfrm>
          <a:prstGeom prst="rect">
            <a:avLst/>
          </a:prstGeom>
          <a:solidFill>
            <a:srgbClr val="EEF2F7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 Step 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83280" y="28803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ผู้สร้างใบ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49240" y="28803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 + (ผจก.โรงงาน ถ้าผลิต)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246120"/>
            <a:ext cx="685800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3246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 Final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83280" y="32461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ผู้สร้าง + พนักงานที่ลา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349240" y="32461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3611880"/>
            <a:ext cx="6858000" cy="365760"/>
          </a:xfrm>
          <a:prstGeom prst="rect">
            <a:avLst/>
          </a:prstGeom>
          <a:solidFill>
            <a:srgbClr val="EEF2F7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3611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ปฏิเสธ + เหตุผล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83280" y="36118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ผู้สร้างใบ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49240" y="36118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3977640"/>
            <a:ext cx="685800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0080" y="3977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ยกเลิกใบลา (pending)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383280" y="39776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ผู้อนุมัติ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349240" y="39776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4343400"/>
            <a:ext cx="6858000" cy="365760"/>
          </a:xfrm>
          <a:prstGeom prst="rect">
            <a:avLst/>
          </a:prstGeom>
          <a:solidFill>
            <a:srgbClr val="EEF2F7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0080" y="4343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ขอยกเลิกใบลา (approved)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383280" y="43434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 (review)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349240" y="43434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ผู้อนุมัติเดิม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" y="4709160"/>
            <a:ext cx="685800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008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Cross-dept OT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383280" y="47091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ผจก.แผนก ของพนักงาน (FYI)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49240" y="47091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589520" y="1828800"/>
            <a:ext cx="4069080" cy="4617720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589520" y="1828800"/>
            <a:ext cx="4069080" cy="5029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77240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ได้รับอนุมัติ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772400" y="2514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เลขที่: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006840" y="25146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OT260605-7462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772400" y="289864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วันที่: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006840" y="28986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มิ.ย. 2569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772400" y="328269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เวลา: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006840" y="328269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17:00 - 19:30  (2.5 ชม.)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772400" y="36667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พนักงาน: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006840" y="366674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คน — ชฎาพร ชูเรือง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772400" y="40507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สายรถ: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9006840" y="405079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เกียรติธานี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772400" y="4434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สถานะ: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9006840" y="44348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อนุมัติแล้ว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772400" y="481888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อนุมัติโดย: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006840" y="481888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วิชัย บริหารดี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595360" y="5486400"/>
            <a:ext cx="2057400" cy="4572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8595360" y="54864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 OT ในระบบ →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Cross-cutting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CROSS-CUTTING FEATURES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Cut-off Time &amp; Carry-over Logic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การควบคุมเวลา และ Auto carry-over วันลา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765828"/>
            <a:ext cx="111099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11109960" cy="54864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1920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Cut-off Time — ตัดยอดการสร้างและอนุมัติแต่ละวัน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2402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เพื่อให้ HR สามารถปิดยอด, รวบรวมรายการ, ส่งเข้า Payroll ได้ตามรอบเวลามาตรฐาน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2834640"/>
            <a:ext cx="1065276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3816" y="2697480"/>
            <a:ext cx="36576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46111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08:00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" y="3063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เริ่มงาน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42282" y="2697480"/>
            <a:ext cx="36576" cy="27432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094226" y="246111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11:00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11346" y="3063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2400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Cut-off สร้าง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672834" y="2697480"/>
            <a:ext cx="36576" cy="27432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24778" y="246111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1B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13:00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41898" y="3063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1B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Cut-off อนุมัติ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933938" y="2697480"/>
            <a:ext cx="36576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485882" y="246111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17:00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303002" y="3063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เลิกงาน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35204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 setting แก้ไขได้ใน /settings/cut-off-time · เปิด/ปิด Enforcement ได้ตามต้องการ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114800"/>
            <a:ext cx="1110996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48640" y="4114800"/>
            <a:ext cx="11109960" cy="54864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1520" y="4251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Auto Carry-over — โอนวันลาเหลือสู่ปีถัดไปอัตโนมัติ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" y="475488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EEF2F7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14400" y="48463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นาย ก.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4400" y="52120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ปีที่แล้วเหลือ: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14400" y="541324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 → ยก 5 (max)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14400" y="56692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ปีนี้รวม: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14400" y="587044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 + 5 = 15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520440" y="475488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EEF2F7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657600" y="48463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นาง ข.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657600" y="52120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ปีที่แล้วเหลือ: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57600" y="541324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→ ยก 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0" y="56692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ปีนี้รวม: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0" y="587044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 + 3 = 13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63640" y="475488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EEF2F7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00800" y="48463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นาย ค.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00800" y="52120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ปีที่แล้วเหลือ: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400800" y="541324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 → ไม่ยก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00800" y="56692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ปีนี้รวม: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00800" y="587044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 + 0 = 10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006840" y="475488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EEF2F7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144000" y="48463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นาง ง.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144000" y="52120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ปีที่แล้วเหลือ: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144000" y="541324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 → ยก 5 (max)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144000" y="56692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ปีนี้รวม: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144000" y="587044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 + 5 = 15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Cross-cutting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CROSS-CUTTING FEATURES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Master Data Management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 Admin จัดการข้อมูลพื้นฐานได้เองทั้งหมด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36118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54864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Employee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24231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รหัสพนักงาน · ชื่อ-สกุล · แผนก · ตำแหน่ง · วันที่เริ่มงาน · หัวหน้า · สายรถ default · Email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3246120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46120" y="32461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CRUD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07408" y="1828800"/>
            <a:ext cx="36118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407408" y="1828800"/>
            <a:ext cx="54864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36008" y="2011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Department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36008" y="24231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รหัส · ชื่อแผนก · ฝ่าย Office/Production · ผู้จัดการแผนก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04888" y="3246120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04888" y="32461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CRUD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266176" y="1828800"/>
            <a:ext cx="36118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266176" y="1828800"/>
            <a:ext cx="54864" cy="1828800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494776" y="2011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Type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494776" y="24231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Code · ชื่อประเภท · จำนวนวันต่อปี · มี Pro-rate · Max Carry-over · Active/Inactive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963656" y="3246120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963656" y="32461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CRUD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3904488"/>
            <a:ext cx="36118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48640" y="3904488"/>
            <a:ext cx="54864" cy="1828800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77240" y="40873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Reject Reason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77240" y="4498848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Code Auto-gen (LRR001, LRR002, ...) · ข้อความ · Active/Inactive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46120" y="5321808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46120" y="532180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CRUD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07408" y="3904488"/>
            <a:ext cx="36118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407408" y="3904488"/>
            <a:ext cx="54864" cy="182880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36008" y="40873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Bus Route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636008" y="4498848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ชื่อสาย · เส้นทาง · ใช้กับฝ่าย · Active/Inactive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104888" y="5321808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104888" y="532180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CRUD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266176" y="3904488"/>
            <a:ext cx="36118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266176" y="3904488"/>
            <a:ext cx="54864" cy="182880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494776" y="40873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System Settings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494776" y="4498848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Cut-off Time · Carry-over Rules · SMTP · HR Email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0963656" y="5321808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0963656" y="532180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CRUD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Cross-cutting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CROSS-CUTTING FEATURES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Audit Log &amp; Security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ความปลอดภัย + บันทึกประวัติทุก action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486400" cy="4617720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5486400" cy="5486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19202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2402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Defense-in-depth — ตั้งแต่ login จนถึง action ทุก step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2743200"/>
            <a:ext cx="201168" cy="201168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7432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" y="2697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Password Hashing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2971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bcryptjs (salt rounds = 10) — รหัสผ่านไม่เก็บเป็น plain text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3337560"/>
            <a:ext cx="201168" cy="201168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33375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51560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Session Management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3566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NextAuth.js v5 — JWT signed + httpOnly cookie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3931920"/>
            <a:ext cx="201168" cy="201168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39319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1560" y="3886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Role-based Middleware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ตรวจสิทธิ์ทุก route + redirect ถ้าไม่มีสิทธิ์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1520" y="4526280"/>
            <a:ext cx="201168" cy="201168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1520" y="45262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1560" y="4480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Server Action Authorization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15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 mutation ตรวจ session + role + ownership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31520" y="5120640"/>
            <a:ext cx="201168" cy="201168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1520" y="512064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51560" y="5074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SQL Injection Protection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51560" y="5349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ใช้ prepared statements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31520" y="5715000"/>
            <a:ext cx="201168" cy="201168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31520" y="57150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51560" y="5669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Email Log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51560" y="5943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 email บันทึก log — debug / audit ได้ย้อนหลัง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72200" y="1783080"/>
            <a:ext cx="5486400" cy="4617720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172200" y="1783080"/>
            <a:ext cx="5486400" cy="54864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355080" y="19202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Audit Log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355080" y="22402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บันทึกทุก action — ตอบโจทย์ Compliance / Internal Audit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355080" y="2743200"/>
            <a:ext cx="512064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46520" y="274320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360920" y="27432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ผู้ใช้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458200" y="27432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Action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104120" y="274320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Entity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355080" y="3035808"/>
            <a:ext cx="5120640" cy="411480"/>
          </a:xfrm>
          <a:prstGeom prst="rect">
            <a:avLst/>
          </a:prstGeom>
          <a:solidFill>
            <a:srgbClr val="FFFFFF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446520" y="303580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13:42:17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360920" y="303580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mgr.office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458200" y="303580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APPROVE_LEAVE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104120" y="3035808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LV2569-0042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55080" y="3447288"/>
            <a:ext cx="5120640" cy="411480"/>
          </a:xfrm>
          <a:prstGeom prst="rect">
            <a:avLst/>
          </a:prstGeom>
          <a:solidFill>
            <a:srgbClr val="EEF2F7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446520" y="344728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13:40:05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360920" y="344728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sup.office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458200" y="344728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CREATE_LEAVE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104120" y="3447288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LV2569-0042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355080" y="3858768"/>
            <a:ext cx="5120640" cy="411480"/>
          </a:xfrm>
          <a:prstGeom prst="rect">
            <a:avLst/>
          </a:prstGeom>
          <a:solidFill>
            <a:srgbClr val="FFFFFF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446520" y="385876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11:22:30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360920" y="385876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458200" y="385876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1B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CANCEL_OT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104120" y="3858768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OT2569-0123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355080" y="4270248"/>
            <a:ext cx="5120640" cy="411480"/>
          </a:xfrm>
          <a:prstGeom prst="rect">
            <a:avLst/>
          </a:prstGeom>
          <a:solidFill>
            <a:srgbClr val="EEF2F7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446520" y="427024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10:15:08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360920" y="427024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mgr.prod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458200" y="427024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1B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REJECT_LEAVE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0104120" y="4270248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LV2569-0040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355080" y="4681728"/>
            <a:ext cx="5120640" cy="411480"/>
          </a:xfrm>
          <a:prstGeom prst="rect">
            <a:avLst/>
          </a:prstGeom>
          <a:solidFill>
            <a:srgbClr val="FFFFFF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446520" y="468172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09:50:14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360920" y="468172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sup.prod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458200" y="468172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CREATE_OT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0104120" y="4681728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OT2569-0123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355080" y="51206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 Audit เก็บถาวร — ใช้ตรวจสอบย้อนหลังได้ไม่จำกัด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Cross-cutting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1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Tech Stack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เทคโนโลยีที่ใช้พัฒนา — เน้น stable + supportable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48640" cy="3657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36118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3611880" cy="365760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18288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331720"/>
            <a:ext cx="31546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Next.js 14 (App Router)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React 18 + TypeScript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Tailwind CSS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shadcn/ui Components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2C52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Recharts (Charts)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07408" y="1828800"/>
            <a:ext cx="36118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407408" y="1828800"/>
            <a:ext cx="361188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90288" y="18288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Backend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36008" y="2331720"/>
            <a:ext cx="31546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Node.js 20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Next.js Server Actions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5 (ORM)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Zod (Validation)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1E3A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Nodemailer (Email)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66176" y="1828800"/>
            <a:ext cx="36118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66176" y="1828800"/>
            <a:ext cx="3611880" cy="36576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49056" y="18288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94776" y="2331720"/>
            <a:ext cx="31546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Microsoft SQL Server 2019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Migrate (Schema)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16 Tables (Master + Transaction)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Daily Backup (SQL Plan)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224528"/>
            <a:ext cx="36118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8640" y="4224528"/>
            <a:ext cx="3611880" cy="36576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1520" y="422452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Auth + Security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4727448"/>
            <a:ext cx="31546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991B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NextAuth.js v5 (Credentials)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991B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bcryptjs (Password)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991B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JWT Session (httpOnly)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991B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Role-based Middleware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07408" y="4224528"/>
            <a:ext cx="36118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407408" y="4224528"/>
            <a:ext cx="3611880" cy="36576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90288" y="422452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36008" y="4727448"/>
            <a:ext cx="31546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ExcelJS (Multi-sheet)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Server-side Filter + Export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16653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Recharts (Dashboard)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66176" y="4224528"/>
            <a:ext cx="36118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266176" y="4224528"/>
            <a:ext cx="3611880" cy="36576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449056" y="422452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DevOps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94776" y="4727448"/>
            <a:ext cx="31546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Windows Server / IIS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PM2 / Node Service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■"/>
            </a:pPr>
            <a:r>
              <a:rPr lang="en-US" sz="10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Git Version Control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 —  Attendance Management System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Implementation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377440"/>
            <a:ext cx="73152" cy="137160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ขอบคุณครับ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2122</Words>
  <Application>Microsoft Office PowerPoint</Application>
  <PresentationFormat>แบบจอกว้าง</PresentationFormat>
  <Paragraphs>507</Paragraphs>
  <Slides>19</Slides>
  <Notes>19</Notes>
  <HiddenSlides>1</HiddenSlides>
  <MMClips>0</MMClips>
  <ScaleCrop>false</ScaleCrop>
  <HeadingPairs>
    <vt:vector size="6" baseType="variant">
      <vt:variant>
        <vt:lpstr>ฟอนต์ที่ถูกใช้</vt:lpstr>
      </vt:variant>
      <vt:variant>
        <vt:i4>2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19</vt:i4>
      </vt:variant>
    </vt:vector>
  </HeadingPairs>
  <TitlesOfParts>
    <vt:vector size="22" baseType="lpstr">
      <vt:lpstr>Arial</vt:lpstr>
      <vt:lpstr>Tahoma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>AMS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AMS — Proposal</dc:title>
  <dc:subject>PptxGenJS Presentation</dc:subject>
  <dc:creator>AMS Team</dc:creator>
  <cp:lastModifiedBy>Theerawat Siriboon</cp:lastModifiedBy>
  <cp:revision>17</cp:revision>
  <dcterms:created xsi:type="dcterms:W3CDTF">2026-06-05T05:34:42Z</dcterms:created>
  <dcterms:modified xsi:type="dcterms:W3CDTF">2026-06-05T08:33:44Z</dcterms:modified>
</cp:coreProperties>
</file>