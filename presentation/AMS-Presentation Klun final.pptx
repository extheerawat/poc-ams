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89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v1.0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-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Attendance Management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ระบบบริหารจัดการการลาและ OT ครบวงจร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 ระบบลา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  ระบบ 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  รายงาน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สำหรับองค์กร 460+ คน · 2 ฝ่าย (Office / ผลิต) · 5 ระดับสิทธิ์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ทั้งหมดในระบบ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modules ครอบคลุมงาน HR ด้านการลาและ OT ตั้งแต่ต้นจนจบ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70332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46304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ระบบจัดการการลา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 ใช้ทุกประเภท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หัวหน้าเห็นสิทธิ์ลูกน้องทั้งทีม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+ Export Excel</a:t>
            </a:r>
            <a:endParaRPr lang="th-TH" sz="1100" dirty="0">
              <a:solidFill>
                <a:srgbClr val="0F172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เลือกเหตุผลปฏิเสธ พร้อมช่องคำอธิบย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89120" y="1280160"/>
            <a:ext cx="3703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544068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 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</a:t>
            </a:r>
            <a:r>
              <a:rPr lang="en-US" sz="1100" dirty="0" err="1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ต่อพนักงาน</a:t>
            </a:r>
            <a:endParaRPr lang="th-TH" sz="1100" dirty="0">
              <a:solidFill>
                <a:srgbClr val="0F172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แยกลักษณะงานแต่ละคน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 รายคน + Cross-dept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สรุปสายรถ · Filter กะ · OT </a:t>
            </a:r>
            <a:r>
              <a:rPr lang="en-US" sz="1100" dirty="0" err="1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วันหย</a:t>
            </a:r>
            <a:r>
              <a:rPr lang="th-TH" sz="1100" dirty="0" err="1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ุด</a:t>
            </a:r>
            <a:endParaRPr lang="th-TH" sz="1100" dirty="0">
              <a:solidFill>
                <a:srgbClr val="0F172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Remark </a:t>
            </a: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 </a:t>
            </a: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</a:t>
            </a: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ที่ทำเกินเวลา หรือจบก่อนเวลา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66760" y="1280160"/>
            <a:ext cx="3703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4108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41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941832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อนุมัติ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Multi-step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4108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2 step / ผลิต 3 step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+ รายคน Approve/Reject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แจ้งทุกขั้นตอน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4023360"/>
            <a:ext cx="37033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👥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46304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ข้อมูลหลัก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· แผนก · ฝ่าย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+ เหตุผลปฏิเสธ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 default ต่อพนักงาน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89120" y="4023360"/>
            <a:ext cx="37033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429768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540" dirty="0"/>
          </a:p>
        </p:txBody>
      </p:sp>
      <p:sp>
        <p:nvSpPr>
          <p:cNvPr id="37" name="Text 35"/>
          <p:cNvSpPr/>
          <p:nvPr/>
        </p:nvSpPr>
        <p:spPr>
          <a:xfrm>
            <a:off x="544068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&amp; ดาวน์โหลด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&amp; Excel Export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Monthly + รหัส code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Summary + สรุปสายรถ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 ตามกะ + Export Excel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6676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66760" y="4023360"/>
            <a:ext cx="3703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641080" y="42976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410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540" dirty="0"/>
          </a:p>
        </p:txBody>
      </p:sp>
      <p:sp>
        <p:nvSpPr>
          <p:cNvPr id="44" name="Text 42"/>
          <p:cNvSpPr/>
          <p:nvPr/>
        </p:nvSpPr>
        <p:spPr>
          <a:xfrm>
            <a:off x="941832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1832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4108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สีตามสถานะ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FYI Email ข้ามแผนก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รายละเอียดครบทุกฉบับ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ระบบจัดการการลา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 + เลือกหลายวัน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ใช้ได้ทุกประเภทการลา ไม่ต้องระบุเวลา — ผสมเต็มวัน + ครึ่งวันในใบเดียวได้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หัวหน้าเห็นสิทธิ์ลูกน้องทั้งทีม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ดูยอดวันลาคงเหลือของลูกน้องก่อนสร้างใบลาได้ทันที — ไม่ต้องถาม HR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เหตุผลปฏิเสธ — Dropdown + อธิบายเพิ่ม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กำหนด Master เอง (LRR001, LRR002, …) + Bulk Approve/Reject ทีละหลายใบ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(Code) แสดงทุกที่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List · Detail · Email · Excel (export ได้) — เช่น VACATION-ลาพักร้อน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4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leave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0" y="2560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A-092 — ศรีไพบูลย์ เขียวสีม่วง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เลือกวันลา *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20040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23760" y="3200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คลิกเพื่อเลือกวัน — จะถูกเพิ่มลงรายการอัตโนมัติ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01400" y="32004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3611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เลือกแล้ว 3 รายการ (2.5 วัน)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0" y="361188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ล้างทั้งหมด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86600" y="3840480"/>
            <a:ext cx="4389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78040" y="39044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11 ก.ค. 2569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41080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41080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363456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63456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085832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085832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47120" y="39044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4187952"/>
            <a:ext cx="42062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78040" y="4215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15 ก.ค. 2569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641080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641080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363456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363456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085832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085832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247120" y="421538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178040" y="4498848"/>
            <a:ext cx="42062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78040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16 ก.ค. 2569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641080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641080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363456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363456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085832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085832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247120" y="4526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086600" y="491947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คลิก เต็มวัน / ครึ่งเช้า / ครึ่งบ่าย เพื่อเปลี่ยนสำหรับแต่ละวัน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086600" y="516636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223760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รวมวันลา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424160" y="5166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 วัน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9509760" y="53949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509760" y="5394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บันทึกและส่งอนุมัติ →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ระบบจัดการ 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ต่อพนักงาน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ติ๊กพนักงาน → สายรถ auto-fill จาก default — Override รายคนได้ถ้ามีการเปลี่ยนแปลง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ลักษณะงาน + Remark รายคน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แต่ละคนกรอกลักษณะงานต่างกันได้ + Remark กรณีอยู่ต่อ/เลิกก่อนเวลา · รองรับ OT วันหยุด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 รายคน + Cross-dept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ผู้อนุมัติเลือกรายชื่อ → คนติ๊ก approved, ไม่ติ๊ก ผ่าน · ส่ง FYI email หัวหน้าแผนกต้นสังกัด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OT ครบทุกมุม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สรุปสายรถ × คน × วัน + Filter ตามกะ Day/Night + Excel 2 sheet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4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ot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OT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866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☀  Day (กะกลางวัน)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72600" y="2560320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72600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🌙  Night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0" y="329184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2376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07:30 - 16:10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42416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8.67 ชม.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86600" y="370332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2376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07:30 - 19:30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24160" y="3703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12.00 ชม.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411480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2376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●  17:00 - 19:30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4114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2.50 ชม.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86600" y="475488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2376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🚌  สายรถของแต่ละคน · 5 พนักงาน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86600" y="530352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23760" y="5303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2.50 ชั่วโมง × 5 คน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Workflow อนุมัติ + รายงาน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 Flow &amp; Reports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การอนุมัติ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1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(2 step)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3456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8442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46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82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651760" y="273456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28442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146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282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3456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28442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146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740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ผลิต (3 step)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6044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170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471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4151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651760" y="406044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97480" y="4170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4471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4151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663440" y="406044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4170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ผจก.โรงงาน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4471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4151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40080" y="5020568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" y="51851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5185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★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1325880" y="5066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 คลิกเดียวจบ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25880" y="5340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ไม่ต้องผ่าน 2-3 step — fast-track ตรงไป APPROVED</a:t>
            </a:r>
            <a:endParaRPr lang="en-US" sz="1000" dirty="0"/>
          </a:p>
        </p:txBody>
      </p:sp>
      <p:grpSp>
        <p:nvGrpSpPr>
          <p:cNvPr id="68" name="กลุ่ม 67">
            <a:extLst>
              <a:ext uri="{FF2B5EF4-FFF2-40B4-BE49-F238E27FC236}">
                <a16:creationId xmlns:a16="http://schemas.microsoft.com/office/drawing/2014/main" id="{05D44712-1902-499D-5CAF-AEFECB14C672}"/>
              </a:ext>
            </a:extLst>
          </p:cNvPr>
          <p:cNvGrpSpPr/>
          <p:nvPr/>
        </p:nvGrpSpPr>
        <p:grpSpPr>
          <a:xfrm>
            <a:off x="7631805" y="365761"/>
            <a:ext cx="4392555" cy="4033016"/>
            <a:chOff x="6583670" y="1691639"/>
            <a:chExt cx="5120643" cy="4434847"/>
          </a:xfrm>
        </p:grpSpPr>
        <p:sp>
          <p:nvSpPr>
            <p:cNvPr id="41" name="Shape 39"/>
            <p:cNvSpPr/>
            <p:nvPr/>
          </p:nvSpPr>
          <p:spPr>
            <a:xfrm>
              <a:off x="6583672" y="1691640"/>
              <a:ext cx="5120641" cy="4434846"/>
            </a:xfrm>
            <a:prstGeom prst="roundRect">
              <a:avLst>
                <a:gd name="adj" fmla="val 247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6583670" y="1691639"/>
              <a:ext cx="5120638" cy="9144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6766560" y="1874520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📊  รายงาน + Excel Export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766560" y="2194560"/>
              <a:ext cx="47548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ดูข้อมูลในตาราง + กรอง + ดาวน์โหลด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7014754" y="3566160"/>
              <a:ext cx="502920" cy="100584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923314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ม.ค.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7765869" y="3200400"/>
              <a:ext cx="502920" cy="137160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7674429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ก.พ.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8516983" y="3840480"/>
              <a:ext cx="502920" cy="73152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49"/>
            <p:cNvSpPr/>
            <p:nvPr/>
          </p:nvSpPr>
          <p:spPr>
            <a:xfrm>
              <a:off x="8425543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มี.ค.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9268097" y="2926080"/>
              <a:ext cx="502920" cy="164592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9176657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เม.ย.</a:t>
              </a:r>
              <a:endParaRPr lang="en-US" sz="9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0019211" y="3383280"/>
              <a:ext cx="502920" cy="118872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9927771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พ.ค.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0770326" y="3017520"/>
              <a:ext cx="502920" cy="155448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10678886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มิ.ย.</a:t>
              </a:r>
              <a:endParaRPr lang="en-US" sz="9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903720" y="49377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📄  Leave Monthly Report</a:t>
              </a:r>
              <a:endParaRPr lang="en-US" sz="11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10515600" y="4983480"/>
              <a:ext cx="91440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59"/>
            <p:cNvSpPr/>
            <p:nvPr/>
          </p:nvSpPr>
          <p:spPr>
            <a:xfrm>
              <a:off x="10515600" y="49834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Excel ↓</a:t>
              </a:r>
              <a:endParaRPr lang="en-US" sz="9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6903720" y="53949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📄  OT Summary Report</a:t>
              </a:r>
              <a:endParaRPr lang="en-US" sz="11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10515600" y="5440680"/>
              <a:ext cx="91440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3"/>
            <p:cNvSpPr/>
            <p:nvPr/>
          </p:nvSpPr>
          <p:spPr>
            <a:xfrm>
              <a:off x="10515600" y="5440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Excel ↓</a:t>
              </a:r>
              <a:endParaRPr lang="en-US" sz="900" dirty="0"/>
            </a:p>
          </p:txBody>
        </p:sp>
      </p:grpSp>
      <p:sp>
        <p:nvSpPr>
          <p:cNvPr id="66" name="Text 6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6</a:t>
            </a:r>
            <a:endParaRPr lang="en-US" sz="900" dirty="0"/>
          </a:p>
        </p:txBody>
      </p:sp>
      <p:grpSp>
        <p:nvGrpSpPr>
          <p:cNvPr id="70" name="กลุ่ม 69">
            <a:extLst>
              <a:ext uri="{FF2B5EF4-FFF2-40B4-BE49-F238E27FC236}">
                <a16:creationId xmlns:a16="http://schemas.microsoft.com/office/drawing/2014/main" id="{D894FD84-F814-EBE3-6C61-75037DF653F0}"/>
              </a:ext>
            </a:extLst>
          </p:cNvPr>
          <p:cNvGrpSpPr/>
          <p:nvPr/>
        </p:nvGrpSpPr>
        <p:grpSpPr>
          <a:xfrm>
            <a:off x="6675120" y="4060448"/>
            <a:ext cx="1691640" cy="777240"/>
            <a:chOff x="6675120" y="3611880"/>
            <a:chExt cx="1691640" cy="777240"/>
          </a:xfrm>
        </p:grpSpPr>
        <p:sp>
          <p:nvSpPr>
            <p:cNvPr id="33" name="Shape 31"/>
            <p:cNvSpPr/>
            <p:nvPr/>
          </p:nvSpPr>
          <p:spPr>
            <a:xfrm>
              <a:off x="6675120" y="361188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720840" y="402336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เสร็จ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720840" y="372160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อนุมัติ ✓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AMS?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ฟีเจอร์เด่นที่ทำให้ระบบนี้ใช้งานได้จริงในองค์กร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3152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🇹🇭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4173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พ.ศ. ทั้งระบบ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วันที่ทุกหน้าใช้ปฏิทินไทย ผู้ใช้คุ้นเคย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53035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ครบทุกขั้นตอน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หัวเมลสีตามสถานะ + ลิงก์เข้าระบบ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5320" y="192024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49640" y="2240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9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🔐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91897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ระดับสิทธิ์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 · ผจก.แผนก · ผจก.โรงงาน · HR ·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⚡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14173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Carry-over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วันลาเหลือ → โอนปีหน้าอัตโนมัติ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89120" y="36576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53035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ตั้งเวลาตัดยอดสร้าง/อนุมัติได้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275320" y="365760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549640" y="3977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49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91897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+ Excel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897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กรองแล้วดาวน์โหลดได้ทันที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พร้อมใช้งานวันนี้ — รองรับ 460+ พนักงาน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849</Words>
  <Application>Microsoft Office PowerPoint</Application>
  <PresentationFormat>แบบจอกว้าง</PresentationFormat>
  <Paragraphs>196</Paragraphs>
  <Slides>6</Slides>
  <Notes>6</Notes>
  <HiddenSlides>1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9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Attendance Management System</dc:title>
  <dc:subject>PptxGenJS Presentation</dc:subject>
  <dc:creator>AMS Team</dc:creator>
  <cp:lastModifiedBy>Theerawat Siriboon</cp:lastModifiedBy>
  <cp:revision>4</cp:revision>
  <dcterms:created xsi:type="dcterms:W3CDTF">2026-06-05T04:42:16Z</dcterms:created>
  <dcterms:modified xsi:type="dcterms:W3CDTF">2026-06-05T05:02:25Z</dcterms:modified>
</cp:coreProperties>
</file>